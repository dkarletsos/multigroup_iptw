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66" r:id="rId4"/>
    <p:sldId id="271" r:id="rId5"/>
    <p:sldId id="272" r:id="rId6"/>
    <p:sldId id="258" r:id="rId7"/>
    <p:sldId id="277" r:id="rId8"/>
    <p:sldId id="267" r:id="rId9"/>
    <p:sldId id="268" r:id="rId10"/>
    <p:sldId id="275" r:id="rId11"/>
    <p:sldId id="276" r:id="rId12"/>
    <p:sldId id="269" r:id="rId13"/>
    <p:sldId id="270" r:id="rId14"/>
    <p:sldId id="273" r:id="rId15"/>
    <p:sldId id="259" r:id="rId16"/>
    <p:sldId id="260" r:id="rId17"/>
    <p:sldId id="261" r:id="rId18"/>
    <p:sldId id="274" r:id="rId19"/>
    <p:sldId id="262" r:id="rId20"/>
    <p:sldId id="264" r:id="rId21"/>
    <p:sldId id="265" r:id="rId2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667" userDrawn="1">
          <p15:clr>
            <a:srgbClr val="A4A3A4"/>
          </p15:clr>
        </p15:guide>
        <p15:guide id="2" pos="385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7022"/>
    <p:restoredTop sz="94610"/>
  </p:normalViewPr>
  <p:slideViewPr>
    <p:cSldViewPr snapToGrid="0" snapToObjects="1">
      <p:cViewPr varScale="1">
        <p:scale>
          <a:sx n="158" d="100"/>
          <a:sy n="158" d="100"/>
        </p:scale>
        <p:origin x="248" y="176"/>
      </p:cViewPr>
      <p:guideLst>
        <p:guide orient="horz" pos="667"/>
        <p:guide pos="385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361116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0CD763-36F0-2E5E-70E4-0D79E56610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DF5FE51-E178-0E70-AF98-0F4C7FD9E34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51E544F-3069-C258-5B15-A49E6355A9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311DFB-5530-05B0-8359-5596224BBBF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190271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B1DE1E-D60C-47B6-CF80-81E6C4086C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CFFCF1B-9469-01B5-794E-2309EC5857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4266FA8-9F52-1A2C-6D1B-39D2D3A112D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3E7B44-8F3E-6B18-31CC-50B957364A1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755548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297728" y="964109"/>
            <a:ext cx="6548247" cy="1188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4680"/>
              </a:lnSpc>
              <a:spcAft>
                <a:spcPts val="1050"/>
              </a:spcAft>
              <a:buNone/>
            </a:pPr>
            <a:r>
              <a:rPr lang="en-US" sz="3600" dirty="0">
                <a:solidFill>
                  <a:srgbClr val="FFFFFF"/>
                </a:solidFill>
                <a:latin typeface="Calibri" panose="020F0502020204030204" pitchFamily="34" charset="0"/>
                <a:ea typeface="Arial" pitchFamily="34" charset="-122"/>
                <a:cs typeface="Calibri" panose="020F0502020204030204" pitchFamily="34" charset="0"/>
              </a:rPr>
              <a:t>Inverse Probability Weighting</a:t>
            </a:r>
            <a:endParaRPr lang="en-US" sz="36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 algn="ctr">
              <a:lnSpc>
                <a:spcPts val="4680"/>
              </a:lnSpc>
              <a:spcAft>
                <a:spcPts val="2250"/>
              </a:spcAft>
              <a:buNone/>
            </a:pPr>
            <a:r>
              <a:rPr lang="en-US" sz="3600" dirty="0">
                <a:solidFill>
                  <a:srgbClr val="FFFFFF"/>
                </a:solidFill>
                <a:latin typeface="Calibri" panose="020F0502020204030204" pitchFamily="34" charset="0"/>
                <a:ea typeface="Arial" pitchFamily="34" charset="-122"/>
                <a:cs typeface="Calibri" panose="020F0502020204030204" pitchFamily="34" charset="0"/>
              </a:rPr>
              <a:t>In Multiple Trials</a:t>
            </a:r>
            <a:endParaRPr lang="en-US" sz="36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1237308" y="2438400"/>
            <a:ext cx="6669235" cy="693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730"/>
              </a:lnSpc>
              <a:spcAft>
                <a:spcPts val="1200"/>
              </a:spcAft>
              <a:buNone/>
            </a:pPr>
            <a:r>
              <a:rPr lang="en-US" sz="1950" dirty="0">
                <a:solidFill>
                  <a:srgbClr val="FFFFFF"/>
                </a:solidFill>
                <a:latin typeface="Calibri" panose="020F0502020204030204" pitchFamily="34" charset="0"/>
                <a:ea typeface="Arial" pitchFamily="34" charset="-122"/>
                <a:cs typeface="Calibri" panose="020F0502020204030204" pitchFamily="34" charset="0"/>
              </a:rPr>
              <a:t>Balancing Baseline Characteristics and Improving Precision</a:t>
            </a:r>
            <a:endParaRPr lang="en-US" sz="195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 algn="ctr">
              <a:lnSpc>
                <a:spcPts val="2730"/>
              </a:lnSpc>
              <a:spcAft>
                <a:spcPts val="1200"/>
              </a:spcAft>
              <a:buNone/>
            </a:pPr>
            <a:r>
              <a:rPr lang="en-US" sz="1950" dirty="0">
                <a:solidFill>
                  <a:srgbClr val="FFFFFF"/>
                </a:solidFill>
                <a:latin typeface="Calibri" panose="020F0502020204030204" pitchFamily="34" charset="0"/>
                <a:ea typeface="Arial" pitchFamily="34" charset="-122"/>
                <a:cs typeface="Calibri" panose="020F0502020204030204" pitchFamily="34" charset="0"/>
              </a:rPr>
              <a:t>of Average Treatment Effect Estimation</a:t>
            </a:r>
            <a:endParaRPr lang="en-US" sz="195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947058" y="3778220"/>
            <a:ext cx="6959486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750"/>
              </a:spcBef>
              <a:spcAft>
                <a:spcPts val="300"/>
              </a:spcAft>
              <a:buNone/>
            </a:pPr>
            <a:r>
              <a:rPr lang="en-US" b="1" dirty="0">
                <a:solidFill>
                  <a:srgbClr val="FFFFFF"/>
                </a:solidFill>
                <a:latin typeface="Calibri" panose="020F0502020204030204" pitchFamily="34" charset="0"/>
                <a:ea typeface="Arial" pitchFamily="34" charset="-122"/>
                <a:cs typeface="Calibri" panose="020F0502020204030204" pitchFamily="34" charset="0"/>
              </a:rPr>
              <a:t>Dimitris Karletsos                                                                     November 2025</a:t>
            </a:r>
          </a:p>
          <a:p>
            <a:pPr marL="0" indent="0" algn="ctr">
              <a:lnSpc>
                <a:spcPts val="2100"/>
              </a:lnSpc>
              <a:spcBef>
                <a:spcPts val="3750"/>
              </a:spcBef>
              <a:spcAft>
                <a:spcPts val="300"/>
              </a:spcAft>
              <a:buNone/>
            </a:pPr>
            <a:r>
              <a:rPr lang="en-US" b="1" dirty="0">
                <a:solidFill>
                  <a:srgbClr val="FFFFFF"/>
                </a:solidFill>
                <a:latin typeface="Calibri" panose="020F0502020204030204" pitchFamily="34" charset="0"/>
                <a:ea typeface="Arial" pitchFamily="34" charset="-122"/>
                <a:cs typeface="Calibri" panose="020F0502020204030204" pitchFamily="34" charset="0"/>
              </a:rPr>
              <a:t>PHUSE 2025</a:t>
            </a:r>
            <a:endParaRPr lang="en-US" b="1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6" name="Picture 5" descr="A blue and white logo&#10;&#10;AI-generated content may be incorrect.">
            <a:extLst>
              <a:ext uri="{FF2B5EF4-FFF2-40B4-BE49-F238E27FC236}">
                <a16:creationId xmlns:a16="http://schemas.microsoft.com/office/drawing/2014/main" id="{B6BEB981-E6CA-8471-1DE8-560D6436142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7598" y="4422592"/>
            <a:ext cx="2395074" cy="53560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676275"/>
            <a:ext cx="0" cy="400050"/>
          </a:xfrm>
          <a:prstGeom prst="line">
            <a:avLst/>
          </a:prstGeom>
          <a:noFill/>
          <a:ln w="57150">
            <a:solidFill>
              <a:srgbClr val="1C3F6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23900" y="704849"/>
            <a:ext cx="4061079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150"/>
              </a:lnSpc>
              <a:buNone/>
            </a:pPr>
            <a:r>
              <a:rPr lang="en-US" sz="3150" b="1" dirty="0">
                <a:solidFill>
                  <a:srgbClr val="1C3F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</a:t>
            </a:r>
            <a:r>
              <a:rPr lang="en-US" sz="3600" b="1" dirty="0">
                <a:solidFill>
                  <a:srgbClr val="1C3F6F"/>
                </a:solidFill>
                <a:latin typeface="Calibri" panose="020F0502020204030204" pitchFamily="34" charset="0"/>
                <a:ea typeface="Arial" pitchFamily="34" charset="-122"/>
                <a:cs typeface="Calibri" panose="020F0502020204030204" pitchFamily="34" charset="0"/>
              </a:rPr>
              <a:t>Challenge</a:t>
            </a:r>
            <a:endParaRPr lang="en-US" sz="36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723900" y="1635578"/>
            <a:ext cx="4061079" cy="2963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333"/>
              </a:lnSpc>
              <a:spcAft>
                <a:spcPts val="1125"/>
              </a:spcAft>
              <a:buNone/>
            </a:pPr>
            <a:r>
              <a:rPr lang="en-US" sz="2700" b="1" dirty="0">
                <a:solidFill>
                  <a:srgbClr val="1C3F6F"/>
                </a:solidFill>
                <a:latin typeface="Calibri" panose="020F0502020204030204" pitchFamily="34" charset="0"/>
                <a:ea typeface="Arial" pitchFamily="34" charset="-122"/>
                <a:cs typeface="Calibri" panose="020F0502020204030204" pitchFamily="34" charset="0"/>
              </a:rPr>
              <a:t>Heterogeneity Across Trials</a:t>
            </a:r>
            <a:endParaRPr lang="en-US" sz="27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723900" y="2074770"/>
            <a:ext cx="7943850" cy="1219200"/>
          </a:xfrm>
          <a:prstGeom prst="rect">
            <a:avLst/>
          </a:prstGeom>
          <a:noFill/>
          <a:ln/>
        </p:spPr>
        <p:txBody>
          <a:bodyPr wrap="square" lIns="119063" tIns="0" rIns="0" bIns="0" rtlCol="0" anchor="t"/>
          <a:lstStyle/>
          <a:p>
            <a:pPr marL="119063" indent="-119063" algn="l">
              <a:lnSpc>
                <a:spcPts val="2100"/>
              </a:lnSpc>
              <a:spcAft>
                <a:spcPts val="900"/>
              </a:spcAft>
              <a:buSzPct val="100000"/>
              <a:buChar char="•"/>
            </a:pPr>
            <a:r>
              <a:rPr lang="en-US" dirty="0">
                <a:solidFill>
                  <a:srgbClr val="2C3E50"/>
                </a:solidFill>
                <a:latin typeface="Calibri" panose="020F0502020204030204" pitchFamily="34" charset="0"/>
                <a:ea typeface="Arial" pitchFamily="34" charset="-122"/>
                <a:cs typeface="Calibri" panose="020F0502020204030204" pitchFamily="34" charset="0"/>
              </a:rPr>
              <a:t>Different trials enroll systematically different populations</a:t>
            </a:r>
            <a:endParaRPr 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119063" indent="-119063" algn="l">
              <a:lnSpc>
                <a:spcPts val="2100"/>
              </a:lnSpc>
              <a:spcAft>
                <a:spcPts val="900"/>
              </a:spcAft>
              <a:buSzPct val="100000"/>
              <a:buChar char="•"/>
            </a:pPr>
            <a:r>
              <a:rPr lang="en-US" dirty="0">
                <a:solidFill>
                  <a:srgbClr val="2C3E50"/>
                </a:solidFill>
                <a:latin typeface="Calibri" panose="020F0502020204030204" pitchFamily="34" charset="0"/>
                <a:ea typeface="Arial" pitchFamily="34" charset="-122"/>
                <a:cs typeface="Calibri" panose="020F0502020204030204" pitchFamily="34" charset="0"/>
              </a:rPr>
              <a:t>Varying inclusion criteria, geographic regions, recruitment periods</a:t>
            </a:r>
            <a:endParaRPr 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119063" indent="-119063" algn="l">
              <a:lnSpc>
                <a:spcPts val="2100"/>
              </a:lnSpc>
              <a:spcAft>
                <a:spcPts val="900"/>
              </a:spcAft>
              <a:buSzPct val="100000"/>
              <a:buChar char="•"/>
            </a:pPr>
            <a:r>
              <a:rPr lang="en-US" dirty="0">
                <a:solidFill>
                  <a:srgbClr val="2C3E50"/>
                </a:solidFill>
                <a:latin typeface="Calibri" panose="020F0502020204030204" pitchFamily="34" charset="0"/>
                <a:ea typeface="Arial" pitchFamily="34" charset="-122"/>
                <a:cs typeface="Calibri" panose="020F0502020204030204" pitchFamily="34" charset="0"/>
              </a:rPr>
              <a:t>Pooling placebo arms creates imbalanced comparison groups</a:t>
            </a:r>
            <a:endParaRPr 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644461" y="3839298"/>
            <a:ext cx="8102727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00"/>
              </a:lnSpc>
              <a:spcBef>
                <a:spcPts val="2250"/>
              </a:spcBef>
              <a:spcAft>
                <a:spcPts val="1500"/>
              </a:spcAft>
              <a:buNone/>
            </a:pPr>
            <a:r>
              <a:rPr lang="en-US" b="1" dirty="0">
                <a:solidFill>
                  <a:srgbClr val="1C3F6F"/>
                </a:solidFill>
                <a:latin typeface="Calibri" panose="020F0502020204030204" pitchFamily="34" charset="0"/>
                <a:ea typeface="Arial" pitchFamily="34" charset="-122"/>
                <a:cs typeface="Calibri" panose="020F0502020204030204" pitchFamily="34" charset="0"/>
              </a:rPr>
              <a:t>How do we balance baseline characteristics across several pooled trials?</a:t>
            </a:r>
            <a:endParaRPr 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7" name="Picture 6" descr="A blue and white logo&#10;&#10;AI-generated content may be incorrect.">
            <a:extLst>
              <a:ext uri="{FF2B5EF4-FFF2-40B4-BE49-F238E27FC236}">
                <a16:creationId xmlns:a16="http://schemas.microsoft.com/office/drawing/2014/main" id="{B3F48E60-F299-0345-9FC5-CE8EA013C8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18094" y="145993"/>
            <a:ext cx="1812615" cy="405353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94360"/>
            <a:ext cx="4618572" cy="6463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000000"/>
                </a:solidFill>
              </a:defRPr>
            </a:pPr>
            <a:r>
              <a:rPr dirty="0"/>
              <a:t>Traditional Approaches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40651"/>
            <a:ext cx="758952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1200"/>
              </a:spcAft>
              <a:defRPr sz="1800"/>
            </a:pPr>
            <a:r>
              <a:rPr dirty="0"/>
              <a:t>Traditional IPTW: Models treatment propensity (P(</a:t>
            </a:r>
            <a:r>
              <a:rPr dirty="0" err="1"/>
              <a:t>Treatment|X</a:t>
            </a:r>
            <a:r>
              <a:rPr dirty="0"/>
              <a:t>))</a:t>
            </a:r>
          </a:p>
          <a:p>
            <a:pPr>
              <a:spcBef>
                <a:spcPts val="600"/>
              </a:spcBef>
              <a:spcAft>
                <a:spcPts val="1200"/>
              </a:spcAft>
              <a:defRPr sz="1800"/>
            </a:pPr>
            <a:r>
              <a:rPr dirty="0"/>
              <a:t>  • ATE: Average Treatment Effect across entire population</a:t>
            </a:r>
          </a:p>
          <a:p>
            <a:pPr>
              <a:spcBef>
                <a:spcPts val="600"/>
              </a:spcBef>
              <a:spcAft>
                <a:spcPts val="1200"/>
              </a:spcAft>
              <a:defRPr sz="1800"/>
            </a:pPr>
            <a:r>
              <a:rPr dirty="0"/>
              <a:t>  • ATT: Average Treatment effect on the Treated</a:t>
            </a:r>
          </a:p>
        </p:txBody>
      </p:sp>
      <p:pic>
        <p:nvPicPr>
          <p:cNvPr id="5" name="Picture 4" descr="A blue and white logo&#10;&#10;AI-generated content may be incorrect.">
            <a:extLst>
              <a:ext uri="{FF2B5EF4-FFF2-40B4-BE49-F238E27FC236}">
                <a16:creationId xmlns:a16="http://schemas.microsoft.com/office/drawing/2014/main" id="{B8158DDF-B771-82CB-955A-84DCE4F2FE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8094" y="145993"/>
            <a:ext cx="1812615" cy="405353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5D9F7138-E98F-E94F-8496-E1B59B26881A}"/>
              </a:ext>
            </a:extLst>
          </p:cNvPr>
          <p:cNvSpPr/>
          <p:nvPr/>
        </p:nvSpPr>
        <p:spPr>
          <a:xfrm>
            <a:off x="640080" y="718458"/>
            <a:ext cx="0" cy="457200"/>
          </a:xfrm>
          <a:prstGeom prst="rect">
            <a:avLst/>
          </a:prstGeom>
          <a:ln w="508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94360"/>
            <a:ext cx="75895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000000"/>
                </a:solidFill>
              </a:defRPr>
            </a:pPr>
            <a:r>
              <a:t>Standard Propensity Score Formulas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718458"/>
            <a:ext cx="0" cy="457200"/>
          </a:xfrm>
          <a:prstGeom prst="rect">
            <a:avLst/>
          </a:prstGeom>
          <a:ln w="508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2011680"/>
            <a:ext cx="7589520" cy="24057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  <a:defRPr sz="2000" b="1"/>
            </a:pPr>
            <a:r>
              <a:rPr dirty="0"/>
              <a:t>Propensity Score: e(X) = P(T = 1 | X)</a:t>
            </a:r>
          </a:p>
          <a:p>
            <a:pPr>
              <a:spcAft>
                <a:spcPts val="1500"/>
              </a:spcAft>
              <a:defRPr sz="2200" b="1">
                <a:solidFill>
                  <a:srgbClr val="2980B9"/>
                </a:solidFill>
              </a:defRPr>
            </a:pPr>
            <a:r>
              <a:rPr dirty="0"/>
              <a:t>Average Treatment Effect (ATE):</a:t>
            </a:r>
          </a:p>
          <a:p>
            <a:pPr>
              <a:spcAft>
                <a:spcPts val="1000"/>
              </a:spcAft>
              <a:defRPr sz="1800"/>
            </a:pPr>
            <a:r>
              <a:rPr dirty="0"/>
              <a:t>    Weight for </a:t>
            </a:r>
            <a:r>
              <a:rPr lang="en-GB" dirty="0"/>
              <a:t>reference</a:t>
            </a:r>
            <a:r>
              <a:rPr dirty="0"/>
              <a:t> (T=1):     w₁ = 1 / e(X)</a:t>
            </a:r>
          </a:p>
          <a:p>
            <a:pPr>
              <a:spcAft>
                <a:spcPts val="2500"/>
              </a:spcAft>
              <a:defRPr sz="1800"/>
            </a:pPr>
            <a:r>
              <a:rPr dirty="0"/>
              <a:t>    Weight for </a:t>
            </a:r>
            <a:r>
              <a:rPr lang="en-GB" dirty="0"/>
              <a:t>comparator</a:t>
            </a:r>
            <a:r>
              <a:rPr dirty="0"/>
              <a:t> (T=0):     w₀ = 1 / (1 - e(X))</a:t>
            </a:r>
          </a:p>
          <a:p>
            <a:pPr>
              <a:defRPr sz="1400" i="1">
                <a:solidFill>
                  <a:srgbClr val="646464"/>
                </a:solidFill>
              </a:defRPr>
            </a:pPr>
            <a:r>
              <a:rPr dirty="0"/>
              <a:t>where T = 1 indicates </a:t>
            </a:r>
            <a:r>
              <a:rPr lang="en-GB" dirty="0"/>
              <a:t>reference trial</a:t>
            </a:r>
            <a:r>
              <a:rPr dirty="0"/>
              <a:t>, T = 0 indicates </a:t>
            </a:r>
            <a:r>
              <a:rPr lang="en-GB" dirty="0"/>
              <a:t>comparator</a:t>
            </a:r>
            <a:r>
              <a:rPr dirty="0"/>
              <a:t>, and X represents baseline covariates</a:t>
            </a:r>
          </a:p>
        </p:txBody>
      </p:sp>
      <p:pic>
        <p:nvPicPr>
          <p:cNvPr id="5" name="Picture 4" descr="A blue and white logo&#10;&#10;AI-generated content may be incorrect.">
            <a:extLst>
              <a:ext uri="{FF2B5EF4-FFF2-40B4-BE49-F238E27FC236}">
                <a16:creationId xmlns:a16="http://schemas.microsoft.com/office/drawing/2014/main" id="{9DA71E1F-4397-DAA5-855A-D72C10A309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8094" y="145993"/>
            <a:ext cx="1812615" cy="405353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AB36FE-CA17-E435-FA87-D7CD5930CD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180FA90-1827-C482-1192-CF42234CEF4C}"/>
              </a:ext>
            </a:extLst>
          </p:cNvPr>
          <p:cNvSpPr txBox="1"/>
          <p:nvPr/>
        </p:nvSpPr>
        <p:spPr>
          <a:xfrm>
            <a:off x="640080" y="594360"/>
            <a:ext cx="75895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000000"/>
                </a:solidFill>
              </a:defRPr>
            </a:pPr>
            <a:r>
              <a:t>Standard Propensity Score Formulas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A2B76CD-2A64-9BA7-F3CD-ACE814C4AC27}"/>
              </a:ext>
            </a:extLst>
          </p:cNvPr>
          <p:cNvSpPr txBox="1"/>
          <p:nvPr/>
        </p:nvSpPr>
        <p:spPr>
          <a:xfrm>
            <a:off x="640080" y="2011680"/>
            <a:ext cx="7589520" cy="24057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  <a:defRPr sz="2000" b="1"/>
            </a:pPr>
            <a:r>
              <a:rPr dirty="0"/>
              <a:t>Propensity Score: e(X) = P(T = 1 | X)</a:t>
            </a:r>
          </a:p>
          <a:p>
            <a:pPr>
              <a:spcAft>
                <a:spcPts val="1500"/>
              </a:spcAft>
              <a:defRPr sz="2200" b="1">
                <a:solidFill>
                  <a:srgbClr val="C0392B"/>
                </a:solidFill>
              </a:defRPr>
            </a:pPr>
            <a:r>
              <a:rPr dirty="0"/>
              <a:t>Average Treatment Effect on the Treated (ATT):</a:t>
            </a:r>
          </a:p>
          <a:p>
            <a:pPr>
              <a:spcAft>
                <a:spcPts val="1000"/>
              </a:spcAft>
              <a:defRPr sz="1800"/>
            </a:pPr>
            <a:r>
              <a:rPr dirty="0"/>
              <a:t>    Weight for </a:t>
            </a:r>
            <a:r>
              <a:rPr lang="en-GB" dirty="0"/>
              <a:t>reference</a:t>
            </a:r>
            <a:r>
              <a:rPr dirty="0"/>
              <a:t> (T=1):     w₁ = 1</a:t>
            </a:r>
          </a:p>
          <a:p>
            <a:pPr>
              <a:spcAft>
                <a:spcPts val="2500"/>
              </a:spcAft>
              <a:defRPr sz="1800"/>
            </a:pPr>
            <a:r>
              <a:rPr dirty="0"/>
              <a:t>    Weight for </a:t>
            </a:r>
            <a:r>
              <a:rPr lang="en-GB" dirty="0"/>
              <a:t>comparator</a:t>
            </a:r>
            <a:r>
              <a:rPr dirty="0"/>
              <a:t> (T=0):     w₀ = e(X) / (1 - e(X))</a:t>
            </a:r>
          </a:p>
          <a:p>
            <a:pPr>
              <a:defRPr sz="1400" i="1">
                <a:solidFill>
                  <a:srgbClr val="646464"/>
                </a:solidFill>
              </a:defRPr>
            </a:pPr>
            <a:r>
              <a:rPr dirty="0"/>
              <a:t>where T = 1 indicates </a:t>
            </a:r>
            <a:r>
              <a:rPr lang="en-GB" dirty="0"/>
              <a:t>reference trial</a:t>
            </a:r>
            <a:r>
              <a:rPr dirty="0"/>
              <a:t>, T = 0 indicates </a:t>
            </a:r>
            <a:r>
              <a:rPr lang="en-GB" dirty="0"/>
              <a:t>comparator</a:t>
            </a:r>
            <a:r>
              <a:rPr dirty="0"/>
              <a:t>, and X represents baseline covariates</a:t>
            </a:r>
          </a:p>
        </p:txBody>
      </p:sp>
      <p:pic>
        <p:nvPicPr>
          <p:cNvPr id="5" name="Picture 4" descr="A blue and white logo&#10;&#10;AI-generated content may be incorrect.">
            <a:extLst>
              <a:ext uri="{FF2B5EF4-FFF2-40B4-BE49-F238E27FC236}">
                <a16:creationId xmlns:a16="http://schemas.microsoft.com/office/drawing/2014/main" id="{B7716223-ADEA-8D86-45AB-779889A866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8094" y="145993"/>
            <a:ext cx="1812615" cy="405353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C67C3F91-D3F1-9528-03E5-A3BEB9B8B702}"/>
              </a:ext>
            </a:extLst>
          </p:cNvPr>
          <p:cNvSpPr/>
          <p:nvPr/>
        </p:nvSpPr>
        <p:spPr>
          <a:xfrm>
            <a:off x="640080" y="718458"/>
            <a:ext cx="0" cy="457200"/>
          </a:xfrm>
          <a:prstGeom prst="rect">
            <a:avLst/>
          </a:prstGeom>
          <a:ln w="508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4465946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752474" y="751114"/>
            <a:ext cx="5354401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150"/>
              </a:lnSpc>
              <a:buNone/>
            </a:pPr>
            <a:r>
              <a:rPr lang="en-US" sz="315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Multiple Trials Adaptation</a:t>
            </a:r>
            <a:endParaRPr lang="en-US" sz="3150" dirty="0"/>
          </a:p>
        </p:txBody>
      </p:sp>
      <p:pic>
        <p:nvPicPr>
          <p:cNvPr id="4" name="Image 0" descr="/tmp/rasterized-gradient-b9b0037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5043" y="1635576"/>
            <a:ext cx="8191500" cy="1169491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91268" y="1873701"/>
            <a:ext cx="7126061" cy="693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30"/>
              </a:lnSpc>
              <a:buNone/>
            </a:pPr>
            <a:r>
              <a:rPr lang="en-US" sz="1950" dirty="0">
                <a:solidFill>
                  <a:srgbClr val="1C3F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Adapt IPTW to model </a:t>
            </a:r>
            <a:r>
              <a:rPr lang="en-US" sz="195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trial membership</a:t>
            </a:r>
            <a:r>
              <a:rPr lang="en-US" sz="1950" dirty="0">
                <a:solidFill>
                  <a:srgbClr val="1C3F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propensity in the presence of multiple pooled trials</a:t>
            </a:r>
            <a:endParaRPr lang="en-US" sz="1950" dirty="0"/>
          </a:p>
        </p:txBody>
      </p:sp>
      <p:pic>
        <p:nvPicPr>
          <p:cNvPr id="7" name="Picture 6" descr="A blue and white logo&#10;&#10;AI-generated content may be incorrect.">
            <a:extLst>
              <a:ext uri="{FF2B5EF4-FFF2-40B4-BE49-F238E27FC236}">
                <a16:creationId xmlns:a16="http://schemas.microsoft.com/office/drawing/2014/main" id="{D7836DFD-76E0-F198-3AC8-DCD60572364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18094" y="145993"/>
            <a:ext cx="1812615" cy="40535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AFA33815-A622-1B35-E868-FB13E7506F52}"/>
              </a:ext>
            </a:extLst>
          </p:cNvPr>
          <p:cNvSpPr txBox="1"/>
          <p:nvPr/>
        </p:nvSpPr>
        <p:spPr>
          <a:xfrm>
            <a:off x="476250" y="2976518"/>
            <a:ext cx="8006443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1200"/>
              </a:spcAft>
              <a:defRPr sz="1800"/>
            </a:pPr>
            <a:r>
              <a:rPr lang="en-GB" dirty="0"/>
              <a:t>Multi-group Adaptation: Models trial membership propensity (P(</a:t>
            </a:r>
            <a:r>
              <a:rPr lang="en-GB" dirty="0" err="1"/>
              <a:t>Trial|X</a:t>
            </a:r>
            <a:r>
              <a:rPr lang="en-GB" dirty="0"/>
              <a:t>))</a:t>
            </a:r>
          </a:p>
          <a:p>
            <a:pPr>
              <a:spcBef>
                <a:spcPts val="600"/>
              </a:spcBef>
              <a:spcAft>
                <a:spcPts val="1200"/>
              </a:spcAft>
              <a:defRPr sz="1800"/>
            </a:pPr>
            <a:r>
              <a:rPr lang="en-GB" dirty="0"/>
              <a:t>  • Goal: Balance baseline characteristics across several pooled trials</a:t>
            </a:r>
          </a:p>
          <a:p>
            <a:pPr>
              <a:spcBef>
                <a:spcPts val="600"/>
              </a:spcBef>
              <a:spcAft>
                <a:spcPts val="1200"/>
              </a:spcAft>
              <a:defRPr sz="1800"/>
            </a:pPr>
            <a:r>
              <a:rPr lang="en-GB" dirty="0"/>
              <a:t>  • Creates comparable control groups when pooling heterogeneous trials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5ECE99A-BE96-2BC3-7542-89B8D94FC815}"/>
              </a:ext>
            </a:extLst>
          </p:cNvPr>
          <p:cNvSpPr/>
          <p:nvPr/>
        </p:nvSpPr>
        <p:spPr>
          <a:xfrm>
            <a:off x="640080" y="718458"/>
            <a:ext cx="0" cy="457200"/>
          </a:xfrm>
          <a:prstGeom prst="rect">
            <a:avLst/>
          </a:prstGeom>
          <a:ln w="508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FCA849-D58C-E83B-BC4C-4A2DB469A6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3">
            <a:extLst>
              <a:ext uri="{FF2B5EF4-FFF2-40B4-BE49-F238E27FC236}">
                <a16:creationId xmlns:a16="http://schemas.microsoft.com/office/drawing/2014/main" id="{487A398E-96A3-201E-233F-BA4F2A53CC8A}"/>
              </a:ext>
            </a:extLst>
          </p:cNvPr>
          <p:cNvSpPr/>
          <p:nvPr/>
        </p:nvSpPr>
        <p:spPr>
          <a:xfrm>
            <a:off x="504825" y="3293652"/>
            <a:ext cx="8191500" cy="1219200"/>
          </a:xfrm>
          <a:prstGeom prst="rect">
            <a:avLst/>
          </a:prstGeom>
          <a:noFill/>
          <a:ln/>
        </p:spPr>
        <p:txBody>
          <a:bodyPr wrap="square" lIns="119063" tIns="0" rIns="0" bIns="0" rtlCol="0" anchor="t"/>
          <a:lstStyle/>
          <a:p>
            <a:pPr marL="119063" indent="-119063" algn="l">
              <a:lnSpc>
                <a:spcPts val="2100"/>
              </a:lnSpc>
              <a:spcAft>
                <a:spcPts val="900"/>
              </a:spcAft>
              <a:buSzPct val="100000"/>
              <a:buChar char="•"/>
            </a:pPr>
            <a:r>
              <a:rPr lang="en-US" dirty="0">
                <a:solidFill>
                  <a:srgbClr val="2C3E50"/>
                </a:solidFill>
                <a:latin typeface="Calibri" panose="020F0502020204030204" pitchFamily="34" charset="0"/>
                <a:ea typeface="Arial" pitchFamily="34" charset="-122"/>
                <a:cs typeface="Calibri" panose="020F0502020204030204" pitchFamily="34" charset="0"/>
              </a:rPr>
              <a:t>Use multinomial logistic regression to estimate probability of trial membership</a:t>
            </a:r>
            <a:endParaRPr 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119063" indent="-119063" algn="l">
              <a:lnSpc>
                <a:spcPts val="2100"/>
              </a:lnSpc>
              <a:spcAft>
                <a:spcPts val="900"/>
              </a:spcAft>
              <a:buSzPct val="100000"/>
              <a:buChar char="•"/>
            </a:pPr>
            <a:r>
              <a:rPr lang="en-US" dirty="0">
                <a:solidFill>
                  <a:srgbClr val="2C3E50"/>
                </a:solidFill>
                <a:latin typeface="Calibri" panose="020F0502020204030204" pitchFamily="34" charset="0"/>
                <a:ea typeface="Arial" pitchFamily="34" charset="-122"/>
                <a:cs typeface="Calibri" panose="020F0502020204030204" pitchFamily="34" charset="0"/>
              </a:rPr>
              <a:t>Weight each participant by inverse of their trial membership probability</a:t>
            </a:r>
            <a:endParaRPr 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119063" indent="-119063" algn="l">
              <a:lnSpc>
                <a:spcPts val="2100"/>
              </a:lnSpc>
              <a:spcAft>
                <a:spcPts val="900"/>
              </a:spcAft>
              <a:buSzPct val="100000"/>
              <a:buChar char="•"/>
            </a:pPr>
            <a:r>
              <a:rPr lang="en-US" dirty="0">
                <a:solidFill>
                  <a:srgbClr val="2C3E50"/>
                </a:solidFill>
                <a:latin typeface="Calibri" panose="020F0502020204030204" pitchFamily="34" charset="0"/>
                <a:ea typeface="Arial" pitchFamily="34" charset="-122"/>
                <a:cs typeface="Calibri" panose="020F0502020204030204" pitchFamily="34" charset="0"/>
              </a:rPr>
              <a:t>Create pseudo-population where trial membership is independent of covariates</a:t>
            </a:r>
          </a:p>
          <a:p>
            <a:pPr marL="119063" indent="-119063" algn="l">
              <a:lnSpc>
                <a:spcPts val="2100"/>
              </a:lnSpc>
              <a:spcAft>
                <a:spcPts val="900"/>
              </a:spcAft>
              <a:buSzPct val="100000"/>
              <a:buChar char="•"/>
            </a:pPr>
            <a:endParaRPr 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7" name="Picture 6" descr="A blue and white logo&#10;&#10;AI-generated content may be incorrect.">
            <a:extLst>
              <a:ext uri="{FF2B5EF4-FFF2-40B4-BE49-F238E27FC236}">
                <a16:creationId xmlns:a16="http://schemas.microsoft.com/office/drawing/2014/main" id="{3D8B5061-D388-E9B7-74D1-CC14EB72B7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18094" y="145993"/>
            <a:ext cx="1812615" cy="405353"/>
          </a:xfrm>
          <a:prstGeom prst="rect">
            <a:avLst/>
          </a:prstGeom>
        </p:spPr>
      </p:pic>
      <p:sp>
        <p:nvSpPr>
          <p:cNvPr id="8" name="Text 1">
            <a:extLst>
              <a:ext uri="{FF2B5EF4-FFF2-40B4-BE49-F238E27FC236}">
                <a16:creationId xmlns:a16="http://schemas.microsoft.com/office/drawing/2014/main" id="{811804F5-D670-FE92-A75A-18082E3B297C}"/>
              </a:ext>
            </a:extLst>
          </p:cNvPr>
          <p:cNvSpPr/>
          <p:nvPr/>
        </p:nvSpPr>
        <p:spPr>
          <a:xfrm>
            <a:off x="752474" y="751114"/>
            <a:ext cx="5354401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150"/>
              </a:lnSpc>
              <a:buNone/>
            </a:pPr>
            <a:r>
              <a:rPr lang="en-US" sz="315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Multiple Trials Adaptation</a:t>
            </a:r>
            <a:endParaRPr lang="en-US" sz="315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FE0DB09-E9DD-2AA7-DADE-2A93059F87A9}"/>
              </a:ext>
            </a:extLst>
          </p:cNvPr>
          <p:cNvSpPr/>
          <p:nvPr/>
        </p:nvSpPr>
        <p:spPr>
          <a:xfrm>
            <a:off x="640080" y="718458"/>
            <a:ext cx="0" cy="457200"/>
          </a:xfrm>
          <a:prstGeom prst="rect">
            <a:avLst/>
          </a:prstGeom>
          <a:ln w="508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Image 0" descr="/tmp/rasterized-gradient-b9b0037a.png">
            <a:extLst>
              <a:ext uri="{FF2B5EF4-FFF2-40B4-BE49-F238E27FC236}">
                <a16:creationId xmlns:a16="http://schemas.microsoft.com/office/drawing/2014/main" id="{B5BAA5C1-412B-24AA-D79F-AF19DD48165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5043" y="1635576"/>
            <a:ext cx="8191500" cy="1169491"/>
          </a:xfrm>
          <a:prstGeom prst="rect">
            <a:avLst/>
          </a:prstGeom>
        </p:spPr>
      </p:pic>
      <p:sp>
        <p:nvSpPr>
          <p:cNvPr id="16" name="Text 2">
            <a:extLst>
              <a:ext uri="{FF2B5EF4-FFF2-40B4-BE49-F238E27FC236}">
                <a16:creationId xmlns:a16="http://schemas.microsoft.com/office/drawing/2014/main" id="{966CA3FC-4B0F-2873-D99E-19719A723206}"/>
              </a:ext>
            </a:extLst>
          </p:cNvPr>
          <p:cNvSpPr/>
          <p:nvPr/>
        </p:nvSpPr>
        <p:spPr>
          <a:xfrm>
            <a:off x="891268" y="1873701"/>
            <a:ext cx="7126061" cy="693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30"/>
              </a:lnSpc>
              <a:buNone/>
            </a:pPr>
            <a:r>
              <a:rPr lang="en-US" sz="1950" dirty="0">
                <a:solidFill>
                  <a:srgbClr val="1C3F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Adapt IPTW to model </a:t>
            </a:r>
            <a:r>
              <a:rPr lang="en-US" sz="195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trial membership</a:t>
            </a:r>
            <a:r>
              <a:rPr lang="en-US" sz="1950" dirty="0">
                <a:solidFill>
                  <a:srgbClr val="1C3F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propensity in the presence of multiple pooled trials</a:t>
            </a:r>
            <a:endParaRPr lang="en-US" sz="1950" dirty="0"/>
          </a:p>
        </p:txBody>
      </p:sp>
    </p:spTree>
    <p:extLst>
      <p:ext uri="{BB962C8B-B14F-4D97-AF65-F5344CB8AC3E}">
        <p14:creationId xmlns:p14="http://schemas.microsoft.com/office/powerpoint/2010/main" val="239647706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94360"/>
            <a:ext cx="75895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000000"/>
                </a:solidFill>
              </a:defRPr>
            </a:pPr>
            <a:r>
              <a:rPr dirty="0"/>
              <a:t>Step 1: Fit Multinomial Logistic Regression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44288"/>
            <a:ext cx="7589520" cy="29854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spcAft>
                <a:spcPts val="1200"/>
              </a:spcAft>
              <a:defRPr sz="1800"/>
            </a:pPr>
            <a:r>
              <a:rPr dirty="0"/>
              <a:t>Model trial membership as a function of baseline covariates:</a:t>
            </a:r>
          </a:p>
          <a:p>
            <a:pPr>
              <a:spcBef>
                <a:spcPts val="1200"/>
              </a:spcBef>
              <a:spcAft>
                <a:spcPts val="1200"/>
              </a:spcAft>
              <a:defRPr sz="1800"/>
            </a:pPr>
            <a:r>
              <a:rPr dirty="0"/>
              <a:t>  log(P(Trial = k | X) / P(Trial = ref | X)) = β₀ₖ + β₁ₖX₁ + ... + βₚₖXₚ</a:t>
            </a:r>
          </a:p>
          <a:p>
            <a:pPr>
              <a:spcBef>
                <a:spcPts val="600"/>
              </a:spcBef>
              <a:spcAft>
                <a:spcPts val="1200"/>
              </a:spcAft>
              <a:defRPr sz="1800"/>
            </a:pPr>
            <a:r>
              <a:rPr dirty="0"/>
              <a:t>For K trials:</a:t>
            </a:r>
          </a:p>
          <a:p>
            <a:pPr>
              <a:spcBef>
                <a:spcPts val="600"/>
              </a:spcBef>
              <a:spcAft>
                <a:spcPts val="1200"/>
              </a:spcAft>
              <a:defRPr sz="1800"/>
            </a:pPr>
            <a:r>
              <a:rPr dirty="0"/>
              <a:t>  • Creates K-1 equations (one trial used as reference)</a:t>
            </a:r>
          </a:p>
          <a:p>
            <a:pPr>
              <a:spcBef>
                <a:spcPts val="600"/>
              </a:spcBef>
              <a:spcAft>
                <a:spcPts val="1200"/>
              </a:spcAft>
              <a:defRPr sz="1800"/>
            </a:pPr>
            <a:r>
              <a:rPr dirty="0"/>
              <a:t>  • Naturally handles multiple groups without pairwise comparisons</a:t>
            </a:r>
          </a:p>
          <a:p>
            <a:pPr>
              <a:spcBef>
                <a:spcPts val="600"/>
              </a:spcBef>
              <a:spcAft>
                <a:spcPts val="1200"/>
              </a:spcAft>
              <a:defRPr sz="1800"/>
            </a:pPr>
            <a:r>
              <a:rPr dirty="0"/>
              <a:t>  • Probabilities sum to 1 across all trials for each participant</a:t>
            </a:r>
          </a:p>
        </p:txBody>
      </p:sp>
      <p:pic>
        <p:nvPicPr>
          <p:cNvPr id="5" name="Picture 4" descr="A blue and white logo&#10;&#10;AI-generated content may be incorrect.">
            <a:extLst>
              <a:ext uri="{FF2B5EF4-FFF2-40B4-BE49-F238E27FC236}">
                <a16:creationId xmlns:a16="http://schemas.microsoft.com/office/drawing/2014/main" id="{2F711D39-A8A3-BCC9-3A05-F84A1C346E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8094" y="145993"/>
            <a:ext cx="1812615" cy="405353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C519266A-E9C1-4F44-EE67-765054352DCD}"/>
              </a:ext>
            </a:extLst>
          </p:cNvPr>
          <p:cNvSpPr/>
          <p:nvPr/>
        </p:nvSpPr>
        <p:spPr>
          <a:xfrm>
            <a:off x="640080" y="685802"/>
            <a:ext cx="0" cy="457200"/>
          </a:xfrm>
          <a:prstGeom prst="rect">
            <a:avLst/>
          </a:prstGeom>
          <a:ln w="508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94360"/>
            <a:ext cx="75895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000000"/>
                </a:solidFill>
              </a:defRPr>
            </a:pPr>
            <a:r>
              <a:t>Step 2: Calculate Propensity Scores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40780"/>
            <a:ext cx="7589520" cy="14619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spcAft>
                <a:spcPts val="1200"/>
              </a:spcAft>
              <a:defRPr sz="1800"/>
            </a:pPr>
            <a:r>
              <a:rPr dirty="0"/>
              <a:t>Extract predicted probability for each participant's observed trial:</a:t>
            </a:r>
          </a:p>
          <a:p>
            <a:pPr>
              <a:spcBef>
                <a:spcPts val="1200"/>
              </a:spcBef>
              <a:spcAft>
                <a:spcPts val="1200"/>
              </a:spcAft>
              <a:defRPr sz="1800"/>
            </a:pPr>
            <a:r>
              <a:rPr dirty="0"/>
              <a:t>  </a:t>
            </a:r>
            <a:r>
              <a:rPr dirty="0" err="1"/>
              <a:t>PS_i</a:t>
            </a:r>
            <a:r>
              <a:rPr dirty="0"/>
              <a:t> = P̂(Trial = j | </a:t>
            </a:r>
            <a:r>
              <a:rPr dirty="0" err="1"/>
              <a:t>X_i</a:t>
            </a:r>
            <a:r>
              <a:rPr dirty="0"/>
              <a:t>)</a:t>
            </a:r>
          </a:p>
          <a:p>
            <a:pPr algn="just">
              <a:spcBef>
                <a:spcPts val="600"/>
              </a:spcBef>
              <a:spcAft>
                <a:spcPts val="1200"/>
              </a:spcAft>
              <a:defRPr sz="1800"/>
            </a:pPr>
            <a:r>
              <a:rPr dirty="0"/>
              <a:t>where j is the trial that participant </a:t>
            </a:r>
            <a:r>
              <a:rPr dirty="0" err="1"/>
              <a:t>i</a:t>
            </a:r>
            <a:r>
              <a:rPr dirty="0"/>
              <a:t> actually belongs to</a:t>
            </a:r>
          </a:p>
        </p:txBody>
      </p:sp>
      <p:pic>
        <p:nvPicPr>
          <p:cNvPr id="5" name="Picture 4" descr="A blue and white logo&#10;&#10;AI-generated content may be incorrect.">
            <a:extLst>
              <a:ext uri="{FF2B5EF4-FFF2-40B4-BE49-F238E27FC236}">
                <a16:creationId xmlns:a16="http://schemas.microsoft.com/office/drawing/2014/main" id="{7A4F225B-10D5-866B-DD1C-FAAF0DD3F9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8094" y="145993"/>
            <a:ext cx="1812615" cy="405353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ED7B64B3-43B9-5E15-0DEA-BE015CB66B1D}"/>
              </a:ext>
            </a:extLst>
          </p:cNvPr>
          <p:cNvSpPr/>
          <p:nvPr/>
        </p:nvSpPr>
        <p:spPr>
          <a:xfrm>
            <a:off x="640080" y="685802"/>
            <a:ext cx="0" cy="457200"/>
          </a:xfrm>
          <a:prstGeom prst="rect">
            <a:avLst/>
          </a:prstGeom>
          <a:ln w="508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D6BA66-35A5-98F1-2E87-6F8586E776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blue and white logo&#10;&#10;AI-generated content may be incorrect.">
            <a:extLst>
              <a:ext uri="{FF2B5EF4-FFF2-40B4-BE49-F238E27FC236}">
                <a16:creationId xmlns:a16="http://schemas.microsoft.com/office/drawing/2014/main" id="{EFC31FD0-B52F-3AFD-49AB-EA30AF4E0B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8094" y="145993"/>
            <a:ext cx="1812615" cy="405353"/>
          </a:xfrm>
          <a:prstGeom prst="rect">
            <a:avLst/>
          </a:prstGeom>
        </p:spPr>
      </p:pic>
      <p:pic>
        <p:nvPicPr>
          <p:cNvPr id="7" name="Picture 6" descr="A graph of a graph showing a number of different colored lines&#10;&#10;AI-generated content may be incorrect.">
            <a:extLst>
              <a:ext uri="{FF2B5EF4-FFF2-40B4-BE49-F238E27FC236}">
                <a16:creationId xmlns:a16="http://schemas.microsoft.com/office/drawing/2014/main" id="{69BCFB8E-9C00-F6D5-DDA7-AB8F6155A1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0323" y="571183"/>
            <a:ext cx="7377207" cy="44263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067413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EAAD3A-B775-753D-D3E4-D216B5D731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7E34886-8C95-9AF2-9436-48489D1291BE}"/>
              </a:ext>
            </a:extLst>
          </p:cNvPr>
          <p:cNvSpPr txBox="1"/>
          <p:nvPr/>
        </p:nvSpPr>
        <p:spPr>
          <a:xfrm>
            <a:off x="640080" y="594360"/>
            <a:ext cx="75895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000000"/>
                </a:solidFill>
              </a:defRPr>
            </a:pPr>
            <a:r>
              <a:t>Step 2: Calculate Propensity Scores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C830109-09DD-07C0-8CE9-E2CA90CF024F}"/>
              </a:ext>
            </a:extLst>
          </p:cNvPr>
          <p:cNvSpPr txBox="1"/>
          <p:nvPr/>
        </p:nvSpPr>
        <p:spPr>
          <a:xfrm>
            <a:off x="640081" y="1546315"/>
            <a:ext cx="7524206" cy="32316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spcBef>
                <a:spcPts val="600"/>
              </a:spcBef>
              <a:spcAft>
                <a:spcPts val="1200"/>
              </a:spcAft>
              <a:defRPr sz="1800"/>
            </a:pPr>
            <a:r>
              <a:rPr lang="en-GB" dirty="0"/>
              <a:t>Propensity score range in our simulation: 0.05 to 0.85 </a:t>
            </a:r>
          </a:p>
          <a:p>
            <a:pPr algn="just">
              <a:spcBef>
                <a:spcPts val="600"/>
              </a:spcBef>
              <a:spcAft>
                <a:spcPts val="1200"/>
              </a:spcAft>
              <a:defRPr sz="1800"/>
            </a:pPr>
            <a:r>
              <a:rPr lang="en-GB" dirty="0"/>
              <a:t>• Median: 0.23                					                  (~ 1/5 = 0.20, indicating common typical participant across trials) </a:t>
            </a:r>
          </a:p>
          <a:p>
            <a:pPr algn="just">
              <a:spcBef>
                <a:spcPts val="600"/>
              </a:spcBef>
              <a:spcAft>
                <a:spcPts val="1200"/>
              </a:spcAft>
              <a:defRPr sz="1800"/>
            </a:pPr>
            <a:r>
              <a:rPr lang="en-GB" dirty="0"/>
              <a:t>• Trial 3 shows narrow distribution </a:t>
            </a:r>
            <a:r>
              <a:rPr lang="en-GB" dirty="0" err="1"/>
              <a:t>centered</a:t>
            </a:r>
            <a:r>
              <a:rPr lang="en-GB" dirty="0"/>
              <a:t> at 0.25 (most typical patient characteristics) </a:t>
            </a:r>
          </a:p>
          <a:p>
            <a:pPr algn="just">
              <a:spcBef>
                <a:spcPts val="600"/>
              </a:spcBef>
              <a:spcAft>
                <a:spcPts val="1200"/>
              </a:spcAft>
              <a:defRPr sz="1800"/>
            </a:pPr>
            <a:r>
              <a:rPr lang="en-GB" dirty="0"/>
              <a:t>• Trials 1, 2, 4, 5 show broader distributions with right tails extending to 0.85</a:t>
            </a:r>
          </a:p>
          <a:p>
            <a:pPr algn="just">
              <a:spcBef>
                <a:spcPts val="600"/>
              </a:spcBef>
              <a:spcAft>
                <a:spcPts val="1200"/>
              </a:spcAft>
              <a:defRPr sz="1800"/>
            </a:pPr>
            <a:r>
              <a:rPr lang="en-GB" dirty="0"/>
              <a:t>• Reasonable common support in central range (0.10-0.50), limited overlap at extremes (&gt;0.60)</a:t>
            </a:r>
            <a:endParaRPr dirty="0"/>
          </a:p>
        </p:txBody>
      </p:sp>
      <p:pic>
        <p:nvPicPr>
          <p:cNvPr id="5" name="Picture 4" descr="A blue and white logo&#10;&#10;AI-generated content may be incorrect.">
            <a:extLst>
              <a:ext uri="{FF2B5EF4-FFF2-40B4-BE49-F238E27FC236}">
                <a16:creationId xmlns:a16="http://schemas.microsoft.com/office/drawing/2014/main" id="{83598306-5973-AC8C-3C6B-C96BDB3E97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8094" y="145993"/>
            <a:ext cx="1812615" cy="405353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E3CBC93A-7DEB-6158-FCDA-B4298086BE4E}"/>
              </a:ext>
            </a:extLst>
          </p:cNvPr>
          <p:cNvSpPr/>
          <p:nvPr/>
        </p:nvSpPr>
        <p:spPr>
          <a:xfrm>
            <a:off x="640080" y="685802"/>
            <a:ext cx="0" cy="457200"/>
          </a:xfrm>
          <a:prstGeom prst="rect">
            <a:avLst/>
          </a:prstGeom>
          <a:ln w="508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24148442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94360"/>
            <a:ext cx="75895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000000"/>
                </a:solidFill>
              </a:defRPr>
            </a:pPr>
            <a:r>
              <a:t>Step 3: Compute Stabilized IPTW Weights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754839"/>
            <a:ext cx="3840480" cy="30880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1000"/>
              </a:spcAft>
              <a:defRPr sz="1600"/>
            </a:pPr>
            <a:r>
              <a:rPr dirty="0"/>
              <a:t>Calculate stabilized weights for each participant:</a:t>
            </a:r>
          </a:p>
          <a:p>
            <a:pPr>
              <a:spcBef>
                <a:spcPts val="1000"/>
              </a:spcBef>
              <a:spcAft>
                <a:spcPts val="1000"/>
              </a:spcAft>
              <a:defRPr sz="1600"/>
            </a:pPr>
            <a:r>
              <a:rPr dirty="0"/>
              <a:t>  </a:t>
            </a:r>
            <a:r>
              <a:rPr dirty="0" err="1"/>
              <a:t>SW_i</a:t>
            </a:r>
            <a:r>
              <a:rPr dirty="0"/>
              <a:t> = P(Trial = j) / P̂(Trial = j | </a:t>
            </a:r>
            <a:r>
              <a:rPr dirty="0" err="1"/>
              <a:t>X_i</a:t>
            </a:r>
            <a:r>
              <a:rPr dirty="0"/>
              <a:t>)</a:t>
            </a:r>
          </a:p>
          <a:p>
            <a:pPr>
              <a:spcBef>
                <a:spcPts val="1000"/>
              </a:spcBef>
              <a:spcAft>
                <a:spcPts val="1000"/>
              </a:spcAft>
              <a:defRPr sz="1600"/>
            </a:pPr>
            <a:r>
              <a:rPr lang="en-GB" dirty="0"/>
              <a:t>w</a:t>
            </a:r>
            <a:r>
              <a:rPr dirty="0"/>
              <a:t>here</a:t>
            </a:r>
            <a:r>
              <a:rPr lang="en-GB" dirty="0"/>
              <a:t>:</a:t>
            </a:r>
            <a:r>
              <a:rPr dirty="0"/>
              <a:t> </a:t>
            </a:r>
            <a:endParaRPr lang="en-GB" dirty="0"/>
          </a:p>
          <a:p>
            <a:pPr>
              <a:spcBef>
                <a:spcPts val="1000"/>
              </a:spcBef>
              <a:spcAft>
                <a:spcPts val="1000"/>
              </a:spcAft>
              <a:defRPr sz="1600"/>
            </a:pPr>
            <a:r>
              <a:rPr dirty="0"/>
              <a:t>P(Trial = j) is the marginal probability (proportion in trial j)</a:t>
            </a:r>
            <a:r>
              <a:rPr lang="en-GB" dirty="0"/>
              <a:t> </a:t>
            </a:r>
          </a:p>
          <a:p>
            <a:pPr>
              <a:spcBef>
                <a:spcPts val="1000"/>
              </a:spcBef>
              <a:spcAft>
                <a:spcPts val="1000"/>
              </a:spcAft>
              <a:defRPr sz="1600"/>
            </a:pPr>
            <a:r>
              <a:rPr lang="en-GB" dirty="0"/>
              <a:t>P̂(Trial = j | </a:t>
            </a:r>
            <a:r>
              <a:rPr lang="en-GB" dirty="0" err="1"/>
              <a:t>X_i</a:t>
            </a:r>
            <a:r>
              <a:rPr lang="en-GB" dirty="0"/>
              <a:t>) is the propensity score for participant </a:t>
            </a:r>
            <a:r>
              <a:rPr lang="en-GB" dirty="0" err="1"/>
              <a:t>i</a:t>
            </a:r>
            <a:r>
              <a:rPr lang="en-GB" dirty="0"/>
              <a:t> being in trial j</a:t>
            </a:r>
            <a:endParaRPr dirty="0"/>
          </a:p>
        </p:txBody>
      </p:sp>
      <p:pic>
        <p:nvPicPr>
          <p:cNvPr id="6" name="Picture 5" descr="A blue and white logo&#10;&#10;AI-generated content may be incorrect.">
            <a:extLst>
              <a:ext uri="{FF2B5EF4-FFF2-40B4-BE49-F238E27FC236}">
                <a16:creationId xmlns:a16="http://schemas.microsoft.com/office/drawing/2014/main" id="{9F0FFDF8-219A-77DC-A9A1-FC96598E33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8094" y="145993"/>
            <a:ext cx="1812615" cy="405353"/>
          </a:xfrm>
          <a:prstGeom prst="rect">
            <a:avLst/>
          </a:prstGeom>
        </p:spPr>
      </p:pic>
      <p:pic>
        <p:nvPicPr>
          <p:cNvPr id="8" name="Picture 7" descr="A graph of a distribution of weight&#10;&#10;AI-generated content may be incorrect.">
            <a:extLst>
              <a:ext uri="{FF2B5EF4-FFF2-40B4-BE49-F238E27FC236}">
                <a16:creationId xmlns:a16="http://schemas.microsoft.com/office/drawing/2014/main" id="{6F135691-F6FC-68BB-C65E-3E6A979D7B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0559" y="1600199"/>
            <a:ext cx="4529743" cy="3397307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4103B741-C07E-BAF4-228C-D0B29F70E230}"/>
              </a:ext>
            </a:extLst>
          </p:cNvPr>
          <p:cNvSpPr/>
          <p:nvPr/>
        </p:nvSpPr>
        <p:spPr>
          <a:xfrm>
            <a:off x="640080" y="685802"/>
            <a:ext cx="0" cy="457200"/>
          </a:xfrm>
          <a:prstGeom prst="rect">
            <a:avLst/>
          </a:prstGeom>
          <a:ln w="508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94360"/>
            <a:ext cx="75895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000000"/>
                </a:solidFill>
              </a:defRPr>
            </a:pPr>
            <a:r>
              <a:t>Step 4: Assess Balance Using SMD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011680"/>
            <a:ext cx="7589520" cy="27084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spcAft>
                <a:spcPts val="1200"/>
              </a:spcAft>
              <a:defRPr sz="1800"/>
            </a:pPr>
            <a:r>
              <a:rPr lang="en-GB" dirty="0"/>
              <a:t>Calculate pairwise Standardized Mean Differences (SMDs) for each covariate: </a:t>
            </a:r>
          </a:p>
          <a:p>
            <a:pPr>
              <a:spcBef>
                <a:spcPts val="1200"/>
              </a:spcBef>
              <a:spcAft>
                <a:spcPts val="1200"/>
              </a:spcAft>
              <a:defRPr sz="1800"/>
            </a:pPr>
            <a:r>
              <a:rPr lang="en-GB" dirty="0" err="1"/>
              <a:t>SMD_ij</a:t>
            </a:r>
            <a:r>
              <a:rPr lang="en-GB" dirty="0"/>
              <a:t> = (X̄_</a:t>
            </a:r>
            <a:r>
              <a:rPr lang="en-GB" dirty="0" err="1"/>
              <a:t>trial_i</a:t>
            </a:r>
            <a:r>
              <a:rPr lang="en-GB" dirty="0"/>
              <a:t> - X̄_</a:t>
            </a:r>
            <a:r>
              <a:rPr lang="en-GB" dirty="0" err="1"/>
              <a:t>trial_j</a:t>
            </a:r>
            <a:r>
              <a:rPr lang="en-GB" dirty="0"/>
              <a:t>) / </a:t>
            </a:r>
            <a:r>
              <a:rPr lang="en-GB" dirty="0" err="1"/>
              <a:t>SD_pooled_ij</a:t>
            </a:r>
            <a:r>
              <a:rPr lang="en-GB" dirty="0"/>
              <a:t> </a:t>
            </a:r>
          </a:p>
          <a:p>
            <a:pPr>
              <a:spcBef>
                <a:spcPts val="1200"/>
              </a:spcBef>
              <a:spcAft>
                <a:spcPts val="1200"/>
              </a:spcAft>
              <a:defRPr sz="1800"/>
            </a:pPr>
            <a:r>
              <a:rPr lang="en-GB" dirty="0"/>
              <a:t>where: </a:t>
            </a:r>
          </a:p>
          <a:p>
            <a:pPr>
              <a:spcBef>
                <a:spcPts val="1200"/>
              </a:spcBef>
              <a:spcAft>
                <a:spcPts val="1200"/>
              </a:spcAft>
              <a:defRPr sz="1800"/>
            </a:pPr>
            <a:r>
              <a:rPr lang="en-GB" dirty="0" err="1"/>
              <a:t>SD_pooled_ij</a:t>
            </a:r>
            <a:r>
              <a:rPr lang="en-GB" dirty="0"/>
              <a:t> = √[(SD_i² + SD_j²) / 2]</a:t>
            </a:r>
          </a:p>
          <a:p>
            <a:pPr>
              <a:spcBef>
                <a:spcPts val="1200"/>
              </a:spcBef>
              <a:spcAft>
                <a:spcPts val="1200"/>
              </a:spcAft>
              <a:defRPr sz="1800"/>
            </a:pPr>
            <a:r>
              <a:rPr lang="en-GB" dirty="0"/>
              <a:t>Computed for all unique trial pairs (10 comparisons for 5 trials).</a:t>
            </a:r>
          </a:p>
        </p:txBody>
      </p:sp>
      <p:pic>
        <p:nvPicPr>
          <p:cNvPr id="5" name="Picture 4" descr="A blue and white logo&#10;&#10;AI-generated content may be incorrect.">
            <a:extLst>
              <a:ext uri="{FF2B5EF4-FFF2-40B4-BE49-F238E27FC236}">
                <a16:creationId xmlns:a16="http://schemas.microsoft.com/office/drawing/2014/main" id="{CDF43AB9-01ED-ACE6-BCDA-3C84D0F8CB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8094" y="145993"/>
            <a:ext cx="1812615" cy="405353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1BFDC720-2018-53EC-D9B6-B8240E932F7B}"/>
              </a:ext>
            </a:extLst>
          </p:cNvPr>
          <p:cNvSpPr/>
          <p:nvPr/>
        </p:nvSpPr>
        <p:spPr>
          <a:xfrm>
            <a:off x="640080" y="685802"/>
            <a:ext cx="0" cy="457200"/>
          </a:xfrm>
          <a:prstGeom prst="rect">
            <a:avLst/>
          </a:prstGeom>
          <a:ln w="508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1847D4-421C-E3F5-15C1-321FCD5AEE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AD326EE-F9DC-F35E-9773-D6FC676F712E}"/>
              </a:ext>
            </a:extLst>
          </p:cNvPr>
          <p:cNvSpPr txBox="1"/>
          <p:nvPr/>
        </p:nvSpPr>
        <p:spPr>
          <a:xfrm>
            <a:off x="640080" y="594360"/>
            <a:ext cx="75895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000000"/>
                </a:solidFill>
              </a:defRPr>
            </a:pPr>
            <a:r>
              <a:t>Step 4: Assess Balance Using SMD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374608A-1C48-5EA6-599B-15338D093194}"/>
              </a:ext>
            </a:extLst>
          </p:cNvPr>
          <p:cNvSpPr/>
          <p:nvPr/>
        </p:nvSpPr>
        <p:spPr>
          <a:xfrm>
            <a:off x="640080" y="685802"/>
            <a:ext cx="0" cy="457200"/>
          </a:xfrm>
          <a:prstGeom prst="rect">
            <a:avLst/>
          </a:prstGeom>
          <a:ln w="508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1464935-68D8-762F-DCDA-483EEC3BACC6}"/>
              </a:ext>
            </a:extLst>
          </p:cNvPr>
          <p:cNvSpPr txBox="1"/>
          <p:nvPr/>
        </p:nvSpPr>
        <p:spPr>
          <a:xfrm>
            <a:off x="640080" y="2011680"/>
            <a:ext cx="7589520" cy="2523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rPr lang="en-GB" dirty="0"/>
              <a:t>Assess balance before and after weighting: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rPr lang="en-GB" dirty="0"/>
              <a:t>  • |SMD| &lt; 0.1 indicates adequate balance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rPr lang="en-GB" dirty="0"/>
              <a:t>  • Compare pre-weight vs. post-weight SMDs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rPr dirty="0"/>
              <a:t>Monitor effective sample size: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rPr dirty="0"/>
              <a:t>  • ESS = (</a:t>
            </a:r>
            <a:r>
              <a:rPr dirty="0" err="1"/>
              <a:t>Σw_i</a:t>
            </a:r>
            <a:r>
              <a:rPr dirty="0"/>
              <a:t>)² / </a:t>
            </a:r>
            <a:r>
              <a:rPr dirty="0" err="1"/>
              <a:t>Σ</a:t>
            </a:r>
            <a:r>
              <a:rPr dirty="0"/>
              <a:t>(w_i²)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rPr dirty="0"/>
              <a:t>  • ESS &lt; 50% suggests </a:t>
            </a:r>
            <a:r>
              <a:rPr lang="en-GB" dirty="0"/>
              <a:t>high</a:t>
            </a:r>
            <a:r>
              <a:rPr dirty="0"/>
              <a:t> heterogeneity</a:t>
            </a:r>
          </a:p>
        </p:txBody>
      </p:sp>
      <p:pic>
        <p:nvPicPr>
          <p:cNvPr id="5" name="Picture 4" descr="A blue and white logo&#10;&#10;AI-generated content may be incorrect.">
            <a:extLst>
              <a:ext uri="{FF2B5EF4-FFF2-40B4-BE49-F238E27FC236}">
                <a16:creationId xmlns:a16="http://schemas.microsoft.com/office/drawing/2014/main" id="{3CC987C9-9BA5-9EEB-069A-FBFB127FE0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8094" y="145993"/>
            <a:ext cx="1812615" cy="4053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245900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26972" y="724125"/>
            <a:ext cx="0" cy="400050"/>
          </a:xfrm>
          <a:prstGeom prst="line">
            <a:avLst/>
          </a:prstGeom>
          <a:noFill/>
          <a:ln w="57150">
            <a:solidFill>
              <a:srgbClr val="1C3F6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15709" y="752317"/>
            <a:ext cx="4061079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150"/>
              </a:lnSpc>
              <a:buNone/>
            </a:pPr>
            <a:r>
              <a:rPr lang="en-US" sz="3150" b="1" dirty="0">
                <a:solidFill>
                  <a:srgbClr val="1C3F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Methods</a:t>
            </a:r>
            <a:endParaRPr lang="en-US" sz="3150" dirty="0"/>
          </a:p>
        </p:txBody>
      </p:sp>
      <p:sp>
        <p:nvSpPr>
          <p:cNvPr id="4" name="Text 2"/>
          <p:cNvSpPr/>
          <p:nvPr/>
        </p:nvSpPr>
        <p:spPr>
          <a:xfrm>
            <a:off x="476250" y="1196066"/>
            <a:ext cx="8191500" cy="864840"/>
          </a:xfrm>
          <a:prstGeom prst="roundRect">
            <a:avLst>
              <a:gd name="adj" fmla="val 8811"/>
            </a:avLst>
          </a:prstGeom>
          <a:solidFill>
            <a:srgbClr val="F8F9F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588645" y="1481816"/>
            <a:ext cx="7966710" cy="293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310"/>
              </a:lnSpc>
              <a:spcBef>
                <a:spcPts val="750"/>
              </a:spcBef>
              <a:spcAft>
                <a:spcPts val="750"/>
              </a:spcAft>
              <a:buNone/>
            </a:pPr>
            <a:r>
              <a:rPr lang="en-US" sz="1650" dirty="0">
                <a:solidFill>
                  <a:srgbClr val="1C3F6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Stabilized Weight = P(Trial = j) / P(Trial = j | X)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476250" y="2251406"/>
            <a:ext cx="4024313" cy="1245691"/>
          </a:xfrm>
          <a:prstGeom prst="roundRect">
            <a:avLst>
              <a:gd name="adj" fmla="val 4588"/>
            </a:avLst>
          </a:prstGeom>
          <a:solidFill>
            <a:srgbClr val="FFFFFF"/>
          </a:solidFill>
          <a:ln w="19050">
            <a:solidFill>
              <a:srgbClr val="E0E0E0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09600" y="2422856"/>
            <a:ext cx="3832765" cy="3732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940"/>
              </a:lnSpc>
              <a:spcBef>
                <a:spcPts val="300"/>
              </a:spcBef>
              <a:spcAft>
                <a:spcPts val="600"/>
              </a:spcAft>
              <a:buNone/>
            </a:pPr>
            <a:r>
              <a:rPr lang="en-US" sz="2100" b="1" dirty="0">
                <a:solidFill>
                  <a:srgbClr val="1C3F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609600" y="2872317"/>
            <a:ext cx="3832765" cy="4533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785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dirty="0">
                <a:solidFill>
                  <a:srgbClr val="2C3E50"/>
                </a:solidFill>
                <a:latin typeface="Calibri" panose="020F0502020204030204" pitchFamily="34" charset="0"/>
                <a:ea typeface="Arial" pitchFamily="34" charset="-122"/>
                <a:cs typeface="Calibri" panose="020F0502020204030204" pitchFamily="34" charset="0"/>
              </a:rPr>
              <a:t>Fit multinomial logistic regression for trial membership</a:t>
            </a:r>
            <a:endParaRPr 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4643438" y="2251406"/>
            <a:ext cx="4024313" cy="1245691"/>
          </a:xfrm>
          <a:prstGeom prst="roundRect">
            <a:avLst>
              <a:gd name="adj" fmla="val 4588"/>
            </a:avLst>
          </a:prstGeom>
          <a:solidFill>
            <a:srgbClr val="FFFFFF"/>
          </a:solidFill>
          <a:ln w="19050">
            <a:solidFill>
              <a:srgbClr val="E0E0E0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776788" y="2422856"/>
            <a:ext cx="3832765" cy="3732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940"/>
              </a:lnSpc>
              <a:spcBef>
                <a:spcPts val="300"/>
              </a:spcBef>
              <a:spcAft>
                <a:spcPts val="600"/>
              </a:spcAft>
              <a:buNone/>
            </a:pPr>
            <a:r>
              <a:rPr lang="en-US" sz="2100" b="1" dirty="0">
                <a:solidFill>
                  <a:srgbClr val="1C3F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776788" y="2872317"/>
            <a:ext cx="3832765" cy="2266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785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dirty="0">
                <a:solidFill>
                  <a:srgbClr val="2C3E50"/>
                </a:solidFill>
                <a:latin typeface="Calibri" panose="020F0502020204030204" pitchFamily="34" charset="0"/>
                <a:ea typeface="Arial" pitchFamily="34" charset="-122"/>
                <a:cs typeface="Calibri" panose="020F0502020204030204" pitchFamily="34" charset="0"/>
              </a:rPr>
              <a:t>Calculate propensity scores for each participant</a:t>
            </a:r>
            <a:endParaRPr 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476250" y="3639973"/>
            <a:ext cx="4024313" cy="1245691"/>
          </a:xfrm>
          <a:prstGeom prst="roundRect">
            <a:avLst>
              <a:gd name="adj" fmla="val 4588"/>
            </a:avLst>
          </a:prstGeom>
          <a:solidFill>
            <a:srgbClr val="FFFFFF"/>
          </a:solidFill>
          <a:ln w="19050">
            <a:solidFill>
              <a:srgbClr val="E0E0E0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609600" y="3811423"/>
            <a:ext cx="3832765" cy="3732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940"/>
              </a:lnSpc>
              <a:spcBef>
                <a:spcPts val="300"/>
              </a:spcBef>
              <a:spcAft>
                <a:spcPts val="600"/>
              </a:spcAft>
              <a:buNone/>
            </a:pPr>
            <a:r>
              <a:rPr lang="en-US" sz="2100" b="1" dirty="0">
                <a:solidFill>
                  <a:srgbClr val="1C3F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609600" y="4260884"/>
            <a:ext cx="3832765" cy="2266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785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dirty="0">
                <a:solidFill>
                  <a:srgbClr val="2C3E50"/>
                </a:solidFill>
                <a:latin typeface="Calibri" panose="020F0502020204030204" pitchFamily="34" charset="0"/>
                <a:ea typeface="Arial" pitchFamily="34" charset="-122"/>
                <a:cs typeface="Calibri" panose="020F0502020204030204" pitchFamily="34" charset="0"/>
              </a:rPr>
              <a:t>Compute stabilized IPTW weights</a:t>
            </a:r>
            <a:endParaRPr 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4643438" y="3639973"/>
            <a:ext cx="4024313" cy="1245691"/>
          </a:xfrm>
          <a:prstGeom prst="roundRect">
            <a:avLst>
              <a:gd name="adj" fmla="val 4588"/>
            </a:avLst>
          </a:prstGeom>
          <a:solidFill>
            <a:srgbClr val="FFFFFF"/>
          </a:solidFill>
          <a:ln w="19050">
            <a:solidFill>
              <a:srgbClr val="E0E0E0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4776788" y="3811423"/>
            <a:ext cx="3832765" cy="3732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940"/>
              </a:lnSpc>
              <a:spcBef>
                <a:spcPts val="300"/>
              </a:spcBef>
              <a:spcAft>
                <a:spcPts val="600"/>
              </a:spcAft>
              <a:buNone/>
            </a:pPr>
            <a:r>
              <a:rPr lang="en-US" sz="2100" b="1" dirty="0">
                <a:solidFill>
                  <a:srgbClr val="1C3F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100" dirty="0"/>
          </a:p>
        </p:txBody>
      </p:sp>
      <p:sp>
        <p:nvSpPr>
          <p:cNvPr id="17" name="Text 15"/>
          <p:cNvSpPr/>
          <p:nvPr/>
        </p:nvSpPr>
        <p:spPr>
          <a:xfrm>
            <a:off x="4776788" y="4260884"/>
            <a:ext cx="3832765" cy="4533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785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dirty="0">
                <a:solidFill>
                  <a:srgbClr val="2C3E50"/>
                </a:solidFill>
                <a:latin typeface="Calibri" panose="020F0502020204030204" pitchFamily="34" charset="0"/>
                <a:ea typeface="Arial" pitchFamily="34" charset="-122"/>
                <a:cs typeface="Calibri" panose="020F0502020204030204" pitchFamily="34" charset="0"/>
              </a:rPr>
              <a:t>Assess balance using standardized mean differences</a:t>
            </a:r>
            <a:endParaRPr 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8" name="Picture 17" descr="A blue and white logo&#10;&#10;AI-generated content may be incorrect.">
            <a:extLst>
              <a:ext uri="{FF2B5EF4-FFF2-40B4-BE49-F238E27FC236}">
                <a16:creationId xmlns:a16="http://schemas.microsoft.com/office/drawing/2014/main" id="{E45B37A3-9874-4F77-A628-61939A9C23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18094" y="145993"/>
            <a:ext cx="1812615" cy="405353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0648" y="730704"/>
            <a:ext cx="0" cy="400050"/>
          </a:xfrm>
          <a:prstGeom prst="line">
            <a:avLst/>
          </a:prstGeom>
          <a:noFill/>
          <a:ln w="57150">
            <a:solidFill>
              <a:srgbClr val="1C3F6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56557" y="747032"/>
            <a:ext cx="4061079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150"/>
              </a:lnSpc>
              <a:buNone/>
            </a:pPr>
            <a:r>
              <a:rPr lang="en-US" sz="3600" b="1" dirty="0">
                <a:solidFill>
                  <a:srgbClr val="1C3F6F"/>
                </a:solidFill>
                <a:latin typeface="Calibri" panose="020F0502020204030204" pitchFamily="34" charset="0"/>
                <a:ea typeface="Arial" pitchFamily="34" charset="-122"/>
                <a:cs typeface="Calibri" panose="020F0502020204030204" pitchFamily="34" charset="0"/>
              </a:rPr>
              <a:t>Simulation</a:t>
            </a:r>
            <a:r>
              <a:rPr lang="en-US" sz="3150" b="1" dirty="0">
                <a:solidFill>
                  <a:srgbClr val="1C3F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Design</a:t>
            </a:r>
            <a:endParaRPr lang="en-US" sz="3150" dirty="0"/>
          </a:p>
        </p:txBody>
      </p:sp>
      <p:sp>
        <p:nvSpPr>
          <p:cNvPr id="7" name="Text 5"/>
          <p:cNvSpPr/>
          <p:nvPr/>
        </p:nvSpPr>
        <p:spPr>
          <a:xfrm>
            <a:off x="476250" y="1568674"/>
            <a:ext cx="4187381" cy="2539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000"/>
              </a:lnSpc>
              <a:spcBef>
                <a:spcPts val="1875"/>
              </a:spcBef>
              <a:spcAft>
                <a:spcPts val="900"/>
              </a:spcAft>
              <a:buNone/>
            </a:pPr>
            <a:r>
              <a:rPr lang="en-US" sz="2700" b="1" dirty="0">
                <a:solidFill>
                  <a:srgbClr val="1C3F6F"/>
                </a:solidFill>
                <a:latin typeface="Calibri" panose="020F0502020204030204" pitchFamily="34" charset="0"/>
                <a:ea typeface="Arial" pitchFamily="34" charset="-122"/>
                <a:cs typeface="Calibri" panose="020F0502020204030204" pitchFamily="34" charset="0"/>
              </a:rPr>
              <a:t>Baseline Covariates</a:t>
            </a:r>
            <a:endParaRPr lang="en-US" sz="27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" name="Text 6"/>
          <p:cNvSpPr/>
          <p:nvPr/>
        </p:nvSpPr>
        <p:spPr>
          <a:xfrm>
            <a:off x="476250" y="1936875"/>
            <a:ext cx="8191500" cy="1485900"/>
          </a:xfrm>
          <a:prstGeom prst="rect">
            <a:avLst/>
          </a:prstGeom>
          <a:noFill/>
          <a:ln/>
        </p:spPr>
        <p:txBody>
          <a:bodyPr wrap="square" lIns="119063" tIns="0" rIns="0" bIns="0" rtlCol="0" anchor="t"/>
          <a:lstStyle/>
          <a:p>
            <a:pPr marL="119063" indent="-119063" algn="l">
              <a:lnSpc>
                <a:spcPts val="2100"/>
              </a:lnSpc>
              <a:spcAft>
                <a:spcPts val="600"/>
              </a:spcAft>
              <a:buSzPct val="100000"/>
              <a:buChar char="•"/>
            </a:pPr>
            <a:r>
              <a:rPr lang="en-US" dirty="0">
                <a:solidFill>
                  <a:srgbClr val="2C3E50"/>
                </a:solidFill>
                <a:latin typeface="Calibri" panose="020F0502020204030204" pitchFamily="34" charset="0"/>
                <a:ea typeface="Arial" pitchFamily="34" charset="-122"/>
                <a:cs typeface="Calibri" panose="020F0502020204030204" pitchFamily="34" charset="0"/>
              </a:rPr>
              <a:t>Age (continuous, trial means: 55-70 years)</a:t>
            </a:r>
            <a:endParaRPr 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119063" indent="-119063" algn="l">
              <a:lnSpc>
                <a:spcPts val="2100"/>
              </a:lnSpc>
              <a:spcAft>
                <a:spcPts val="600"/>
              </a:spcAft>
              <a:buSzPct val="100000"/>
              <a:buChar char="•"/>
            </a:pPr>
            <a:r>
              <a:rPr lang="en-US" dirty="0">
                <a:solidFill>
                  <a:srgbClr val="2C3E50"/>
                </a:solidFill>
                <a:latin typeface="Calibri" panose="020F0502020204030204" pitchFamily="34" charset="0"/>
                <a:ea typeface="Arial" pitchFamily="34" charset="-122"/>
                <a:cs typeface="Calibri" panose="020F0502020204030204" pitchFamily="34" charset="0"/>
              </a:rPr>
              <a:t>Sex (binary)</a:t>
            </a:r>
            <a:endParaRPr 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119063" indent="-119063" algn="l">
              <a:lnSpc>
                <a:spcPts val="2100"/>
              </a:lnSpc>
              <a:spcAft>
                <a:spcPts val="600"/>
              </a:spcAft>
              <a:buSzPct val="100000"/>
              <a:buChar char="•"/>
            </a:pPr>
            <a:r>
              <a:rPr lang="en-US" dirty="0">
                <a:solidFill>
                  <a:srgbClr val="2C3E50"/>
                </a:solidFill>
                <a:latin typeface="Calibri" panose="020F0502020204030204" pitchFamily="34" charset="0"/>
                <a:ea typeface="Arial" pitchFamily="34" charset="-122"/>
                <a:cs typeface="Calibri" panose="020F0502020204030204" pitchFamily="34" charset="0"/>
              </a:rPr>
              <a:t>Disease severity (continuous, 0-100)</a:t>
            </a:r>
            <a:endParaRPr 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119063" indent="-119063" algn="l">
              <a:lnSpc>
                <a:spcPts val="2100"/>
              </a:lnSpc>
              <a:spcAft>
                <a:spcPts val="600"/>
              </a:spcAft>
              <a:buSzPct val="100000"/>
              <a:buChar char="•"/>
            </a:pPr>
            <a:r>
              <a:rPr lang="en-US" dirty="0">
                <a:solidFill>
                  <a:srgbClr val="2C3E50"/>
                </a:solidFill>
                <a:latin typeface="Calibri" panose="020F0502020204030204" pitchFamily="34" charset="0"/>
                <a:ea typeface="Arial" pitchFamily="34" charset="-122"/>
                <a:cs typeface="Calibri" panose="020F0502020204030204" pitchFamily="34" charset="0"/>
              </a:rPr>
              <a:t>Comorbidity count (0-5)</a:t>
            </a:r>
            <a:endParaRPr 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9" name="Picture 8" descr="A blue and white logo&#10;&#10;AI-generated content may be incorrect.">
            <a:extLst>
              <a:ext uri="{FF2B5EF4-FFF2-40B4-BE49-F238E27FC236}">
                <a16:creationId xmlns:a16="http://schemas.microsoft.com/office/drawing/2014/main" id="{3F118EAC-59DB-EF1C-1EDF-ADC2874D0E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18094" y="145993"/>
            <a:ext cx="1812615" cy="405353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0874" y="412297"/>
            <a:ext cx="0" cy="400050"/>
          </a:xfrm>
          <a:prstGeom prst="line">
            <a:avLst/>
          </a:prstGeom>
          <a:noFill/>
          <a:ln w="57150">
            <a:solidFill>
              <a:srgbClr val="2ECC7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23900" y="428625"/>
            <a:ext cx="5965317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150"/>
              </a:lnSpc>
              <a:buNone/>
            </a:pPr>
            <a:r>
              <a:rPr lang="en-US" sz="3150" b="1" dirty="0">
                <a:solidFill>
                  <a:srgbClr val="2ECC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Results: Balance Improvement</a:t>
            </a:r>
            <a:endParaRPr lang="en-US" sz="3150" dirty="0"/>
          </a:p>
        </p:txBody>
      </p:sp>
      <p:sp>
        <p:nvSpPr>
          <p:cNvPr id="4" name="Text 2"/>
          <p:cNvSpPr/>
          <p:nvPr/>
        </p:nvSpPr>
        <p:spPr>
          <a:xfrm>
            <a:off x="5620494" y="1019175"/>
            <a:ext cx="3047256" cy="946696"/>
          </a:xfrm>
          <a:prstGeom prst="roundRect">
            <a:avLst>
              <a:gd name="adj" fmla="val 6037"/>
            </a:avLst>
          </a:prstGeom>
          <a:solidFill>
            <a:srgbClr val="FFFFFF"/>
          </a:solidFill>
          <a:ln w="19050">
            <a:solidFill>
              <a:srgbClr val="E0E0E0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5753844" y="1190625"/>
            <a:ext cx="283616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75"/>
              </a:lnSpc>
              <a:spcBef>
                <a:spcPts val="300"/>
              </a:spcBef>
              <a:spcAft>
                <a:spcPts val="450"/>
              </a:spcAft>
              <a:buNone/>
            </a:pPr>
            <a:r>
              <a:rPr lang="en-US" sz="1125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Max SMD Before</a:t>
            </a:r>
            <a:endParaRPr lang="en-US" sz="1125" dirty="0"/>
          </a:p>
        </p:txBody>
      </p:sp>
      <p:sp>
        <p:nvSpPr>
          <p:cNvPr id="6" name="Text 4"/>
          <p:cNvSpPr/>
          <p:nvPr/>
        </p:nvSpPr>
        <p:spPr>
          <a:xfrm>
            <a:off x="5753844" y="1447800"/>
            <a:ext cx="2836167" cy="3466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3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950" b="1" dirty="0">
                <a:solidFill>
                  <a:srgbClr val="1C3F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1.53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5620494" y="2061121"/>
            <a:ext cx="3047256" cy="1198066"/>
          </a:xfrm>
          <a:prstGeom prst="roundRect">
            <a:avLst>
              <a:gd name="adj" fmla="val 4770"/>
            </a:avLst>
          </a:prstGeom>
          <a:solidFill>
            <a:srgbClr val="FFFFFF"/>
          </a:solidFill>
          <a:ln w="19050">
            <a:solidFill>
              <a:srgbClr val="E0E0E0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5753844" y="2232571"/>
            <a:ext cx="283616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75"/>
              </a:lnSpc>
              <a:spcBef>
                <a:spcPts val="300"/>
              </a:spcBef>
              <a:spcAft>
                <a:spcPts val="450"/>
              </a:spcAft>
              <a:buNone/>
            </a:pPr>
            <a:r>
              <a:rPr lang="en-US" sz="1125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Max SMD After</a:t>
            </a:r>
            <a:endParaRPr lang="en-US" sz="1125" dirty="0"/>
          </a:p>
        </p:txBody>
      </p:sp>
      <p:sp>
        <p:nvSpPr>
          <p:cNvPr id="9" name="Text 7"/>
          <p:cNvSpPr/>
          <p:nvPr/>
        </p:nvSpPr>
        <p:spPr>
          <a:xfrm>
            <a:off x="5753844" y="2489746"/>
            <a:ext cx="2836167" cy="3466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3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950" b="1" dirty="0">
                <a:solidFill>
                  <a:srgbClr val="1C3F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0.49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5753844" y="2874466"/>
            <a:ext cx="2836167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ECC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 67% reduction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620494" y="3354437"/>
            <a:ext cx="3047256" cy="1213396"/>
          </a:xfrm>
          <a:prstGeom prst="roundRect">
            <a:avLst>
              <a:gd name="adj" fmla="val 4710"/>
            </a:avLst>
          </a:prstGeom>
          <a:solidFill>
            <a:srgbClr val="FFFFFF"/>
          </a:solidFill>
          <a:ln w="19050">
            <a:solidFill>
              <a:srgbClr val="E0E0E0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5753844" y="3525887"/>
            <a:ext cx="283616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75"/>
              </a:lnSpc>
              <a:spcBef>
                <a:spcPts val="300"/>
              </a:spcBef>
              <a:spcAft>
                <a:spcPts val="450"/>
              </a:spcAft>
              <a:buNone/>
            </a:pPr>
            <a:r>
              <a:rPr lang="en-US" sz="1125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Effective Sample Size</a:t>
            </a:r>
            <a:endParaRPr lang="en-US" sz="1125" dirty="0"/>
          </a:p>
        </p:txBody>
      </p:sp>
      <p:sp>
        <p:nvSpPr>
          <p:cNvPr id="13" name="Text 11"/>
          <p:cNvSpPr/>
          <p:nvPr/>
        </p:nvSpPr>
        <p:spPr>
          <a:xfrm>
            <a:off x="5753844" y="3783062"/>
            <a:ext cx="2836167" cy="3466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3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950" b="1" dirty="0">
                <a:solidFill>
                  <a:srgbClr val="1C3F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47.5%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5753844" y="4177308"/>
            <a:ext cx="283616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75"/>
              </a:lnSpc>
              <a:spcBef>
                <a:spcPts val="375"/>
              </a:spcBef>
              <a:spcAft>
                <a:spcPts val="450"/>
              </a:spcAft>
              <a:buNone/>
            </a:pPr>
            <a:r>
              <a:rPr lang="en-US" sz="1125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retained</a:t>
            </a:r>
            <a:endParaRPr lang="en-US" sz="1125" dirty="0"/>
          </a:p>
        </p:txBody>
      </p:sp>
      <p:pic>
        <p:nvPicPr>
          <p:cNvPr id="16" name="Picture 15" descr="A blue and white logo&#10;&#10;AI-generated content may be incorrect.">
            <a:extLst>
              <a:ext uri="{FF2B5EF4-FFF2-40B4-BE49-F238E27FC236}">
                <a16:creationId xmlns:a16="http://schemas.microsoft.com/office/drawing/2014/main" id="{2D981E6E-83B8-DC9A-7B44-F0B917F06E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18094" y="145993"/>
            <a:ext cx="1812615" cy="405353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EDF0EAEC-2FC6-FF41-3922-C6F3A883870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9080" y="955265"/>
            <a:ext cx="4051671" cy="4051671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FD1FE3-8D6C-25A9-0D5A-4805F0ACDD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1CC06E0C-FD7D-D15E-89E0-60240DB14B09}"/>
              </a:ext>
            </a:extLst>
          </p:cNvPr>
          <p:cNvSpPr/>
          <p:nvPr/>
        </p:nvSpPr>
        <p:spPr>
          <a:xfrm>
            <a:off x="723900" y="428625"/>
            <a:ext cx="5965317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150"/>
              </a:lnSpc>
              <a:buNone/>
            </a:pPr>
            <a:r>
              <a:rPr lang="en-US" sz="3150" b="1" dirty="0">
                <a:solidFill>
                  <a:srgbClr val="2ECC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Results: Balance Improvement</a:t>
            </a:r>
            <a:endParaRPr lang="en-US" sz="3150" dirty="0"/>
          </a:p>
        </p:txBody>
      </p:sp>
      <p:pic>
        <p:nvPicPr>
          <p:cNvPr id="16" name="Picture 15" descr="A blue and white logo&#10;&#10;AI-generated content may be incorrect.">
            <a:extLst>
              <a:ext uri="{FF2B5EF4-FFF2-40B4-BE49-F238E27FC236}">
                <a16:creationId xmlns:a16="http://schemas.microsoft.com/office/drawing/2014/main" id="{E859D64A-2437-633B-C5FA-A5C8A19621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18094" y="145993"/>
            <a:ext cx="1812615" cy="405353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8D83D70D-5D8A-5379-9041-06C38D30782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5349" t="10" r="23926" b="95409"/>
          <a:stretch>
            <a:fillRect/>
          </a:stretch>
        </p:blipFill>
        <p:spPr>
          <a:xfrm>
            <a:off x="2711015" y="908329"/>
            <a:ext cx="2566739" cy="288758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55C033D8-A5AB-CE7F-BFA8-B4EAC7A60C9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40610" t="92171" r="27828" b="5561"/>
          <a:stretch>
            <a:fillRect/>
          </a:stretch>
        </p:blipFill>
        <p:spPr>
          <a:xfrm>
            <a:off x="2686361" y="4604136"/>
            <a:ext cx="2414557" cy="173494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AA3EC2DE-C218-EF06-3A6F-DB0AD1478F9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5559" b="52019"/>
          <a:stretch>
            <a:fillRect/>
          </a:stretch>
        </p:blipFill>
        <p:spPr>
          <a:xfrm>
            <a:off x="216374" y="1276742"/>
            <a:ext cx="7556023" cy="3205410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1AB4A119-ADE9-065A-5ED5-FCDCA77F7B49}"/>
              </a:ext>
            </a:extLst>
          </p:cNvPr>
          <p:cNvSpPr txBox="1"/>
          <p:nvPr/>
        </p:nvSpPr>
        <p:spPr>
          <a:xfrm>
            <a:off x="1764833" y="4537306"/>
            <a:ext cx="34817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0.1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F2D96714-D22B-F11E-BEE6-C395375880CB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68383" b="9186"/>
          <a:stretch>
            <a:fillRect/>
          </a:stretch>
        </p:blipFill>
        <p:spPr>
          <a:xfrm>
            <a:off x="216373" y="2879446"/>
            <a:ext cx="7556023" cy="1694911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545CB346-7175-1C83-766B-C3339149EB1B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45798" t="95390" r="31921" b="1391"/>
          <a:stretch>
            <a:fillRect/>
          </a:stretch>
        </p:blipFill>
        <p:spPr>
          <a:xfrm>
            <a:off x="2803757" y="4777630"/>
            <a:ext cx="2179763" cy="314873"/>
          </a:xfrm>
          <a:prstGeom prst="rect">
            <a:avLst/>
          </a:prstGeom>
        </p:spPr>
      </p:pic>
      <p:sp>
        <p:nvSpPr>
          <p:cNvPr id="22" name="Shape 0">
            <a:extLst>
              <a:ext uri="{FF2B5EF4-FFF2-40B4-BE49-F238E27FC236}">
                <a16:creationId xmlns:a16="http://schemas.microsoft.com/office/drawing/2014/main" id="{26B07BDC-F74D-1FE7-53B9-009CB395E9ED}"/>
              </a:ext>
            </a:extLst>
          </p:cNvPr>
          <p:cNvSpPr/>
          <p:nvPr/>
        </p:nvSpPr>
        <p:spPr>
          <a:xfrm>
            <a:off x="650874" y="412297"/>
            <a:ext cx="0" cy="400050"/>
          </a:xfrm>
          <a:prstGeom prst="line">
            <a:avLst/>
          </a:prstGeom>
          <a:noFill/>
          <a:ln w="57150">
            <a:solidFill>
              <a:srgbClr val="2ECC7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942935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4504" y="683305"/>
            <a:ext cx="0" cy="400050"/>
          </a:xfrm>
          <a:prstGeom prst="line">
            <a:avLst/>
          </a:prstGeom>
          <a:noFill/>
          <a:ln w="57150">
            <a:solidFill>
              <a:srgbClr val="1C3F6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45670" y="741589"/>
            <a:ext cx="4061079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150"/>
              </a:lnSpc>
              <a:buNone/>
            </a:pPr>
            <a:r>
              <a:rPr lang="en-US" sz="3150" b="1" dirty="0">
                <a:solidFill>
                  <a:srgbClr val="1C3F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Findings</a:t>
            </a:r>
            <a:endParaRPr lang="en-US" sz="3150" dirty="0"/>
          </a:p>
        </p:txBody>
      </p:sp>
      <p:sp>
        <p:nvSpPr>
          <p:cNvPr id="4" name="Text 2"/>
          <p:cNvSpPr/>
          <p:nvPr/>
        </p:nvSpPr>
        <p:spPr>
          <a:xfrm>
            <a:off x="631373" y="1455964"/>
            <a:ext cx="4000500" cy="1407765"/>
          </a:xfrm>
          <a:prstGeom prst="roundRect">
            <a:avLst>
              <a:gd name="adj" fmla="val 4060"/>
            </a:avLst>
          </a:prstGeom>
          <a:solidFill>
            <a:srgbClr val="F8F9F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650423" y="1455964"/>
            <a:ext cx="0" cy="1407765"/>
          </a:xfrm>
          <a:prstGeom prst="line">
            <a:avLst/>
          </a:prstGeom>
          <a:noFill/>
          <a:ln w="38100">
            <a:solidFill>
              <a:srgbClr val="2ECC7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859973" y="1684564"/>
            <a:ext cx="3653028" cy="293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310"/>
              </a:lnSpc>
              <a:spcBef>
                <a:spcPts val="300"/>
              </a:spcBef>
              <a:spcAft>
                <a:spcPts val="900"/>
              </a:spcAft>
              <a:buNone/>
            </a:pPr>
            <a:r>
              <a:rPr lang="en-US" sz="1650" b="1" dirty="0">
                <a:solidFill>
                  <a:srgbClr val="2ECC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Improved Balance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859973" y="2092204"/>
            <a:ext cx="3653028" cy="542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38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425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SMDs reduced below 0.49, with most variables achieving excellent balance</a:t>
            </a:r>
            <a:endParaRPr lang="en-US" sz="1425" dirty="0"/>
          </a:p>
        </p:txBody>
      </p:sp>
      <p:sp>
        <p:nvSpPr>
          <p:cNvPr id="8" name="Text 6"/>
          <p:cNvSpPr/>
          <p:nvPr/>
        </p:nvSpPr>
        <p:spPr>
          <a:xfrm>
            <a:off x="4822373" y="1455964"/>
            <a:ext cx="4000500" cy="1407765"/>
          </a:xfrm>
          <a:prstGeom prst="roundRect">
            <a:avLst>
              <a:gd name="adj" fmla="val 4060"/>
            </a:avLst>
          </a:prstGeom>
          <a:solidFill>
            <a:srgbClr val="F8F9F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" name="Shape 7"/>
          <p:cNvSpPr/>
          <p:nvPr/>
        </p:nvSpPr>
        <p:spPr>
          <a:xfrm>
            <a:off x="4841423" y="1455964"/>
            <a:ext cx="0" cy="1407765"/>
          </a:xfrm>
          <a:prstGeom prst="line">
            <a:avLst/>
          </a:prstGeom>
          <a:noFill/>
          <a:ln w="3810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5050973" y="1684564"/>
            <a:ext cx="3653028" cy="293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310"/>
              </a:lnSpc>
              <a:spcBef>
                <a:spcPts val="300"/>
              </a:spcBef>
              <a:spcAft>
                <a:spcPts val="900"/>
              </a:spcAft>
              <a:buNone/>
            </a:pPr>
            <a:r>
              <a:rPr lang="en-US" sz="1650" b="1" dirty="0">
                <a:solidFill>
                  <a:srgbClr val="F39C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! Efficiency Trade-off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5050973" y="2092204"/>
            <a:ext cx="3653028" cy="542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38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425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Effective sample size reduced to 47.5%, indicating heterogeneous trial populations</a:t>
            </a:r>
            <a:endParaRPr lang="en-US" sz="1425" dirty="0"/>
          </a:p>
        </p:txBody>
      </p:sp>
      <p:sp>
        <p:nvSpPr>
          <p:cNvPr id="12" name="Text 10"/>
          <p:cNvSpPr/>
          <p:nvPr/>
        </p:nvSpPr>
        <p:spPr>
          <a:xfrm>
            <a:off x="631373" y="3054229"/>
            <a:ext cx="4000500" cy="1407765"/>
          </a:xfrm>
          <a:prstGeom prst="roundRect">
            <a:avLst>
              <a:gd name="adj" fmla="val 4060"/>
            </a:avLst>
          </a:prstGeom>
          <a:solidFill>
            <a:srgbClr val="F8F9F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3" name="Shape 11"/>
          <p:cNvSpPr/>
          <p:nvPr/>
        </p:nvSpPr>
        <p:spPr>
          <a:xfrm>
            <a:off x="650423" y="3054229"/>
            <a:ext cx="0" cy="1407765"/>
          </a:xfrm>
          <a:prstGeom prst="line">
            <a:avLst/>
          </a:prstGeom>
          <a:noFill/>
          <a:ln w="38100">
            <a:solidFill>
              <a:srgbClr val="2ECC7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859973" y="3282829"/>
            <a:ext cx="3653028" cy="293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310"/>
              </a:lnSpc>
              <a:spcBef>
                <a:spcPts val="300"/>
              </a:spcBef>
              <a:spcAft>
                <a:spcPts val="900"/>
              </a:spcAft>
              <a:buNone/>
            </a:pPr>
            <a:r>
              <a:rPr lang="en-US" sz="1650" b="1" dirty="0">
                <a:solidFill>
                  <a:srgbClr val="2ECC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Valid Estimates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859973" y="3690469"/>
            <a:ext cx="3653028" cy="542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38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425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Weighted HR: 0.85 (95% CI: 0.74-0.97)</a:t>
            </a:r>
          </a:p>
          <a:p>
            <a:pPr>
              <a:lnSpc>
                <a:spcPts val="2138"/>
              </a:lnSpc>
              <a:spcBef>
                <a:spcPts val="300"/>
              </a:spcBef>
              <a:spcAft>
                <a:spcPts val="300"/>
              </a:spcAft>
            </a:pPr>
            <a:r>
              <a:rPr lang="en-US" sz="1425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Unweighted HR: 0.68 (95% CI: 0.61-0.77), </a:t>
            </a:r>
            <a:endParaRPr lang="en-US" sz="1425" dirty="0"/>
          </a:p>
        </p:txBody>
      </p:sp>
      <p:sp>
        <p:nvSpPr>
          <p:cNvPr id="16" name="Text 14"/>
          <p:cNvSpPr/>
          <p:nvPr/>
        </p:nvSpPr>
        <p:spPr>
          <a:xfrm>
            <a:off x="4822373" y="3054229"/>
            <a:ext cx="4000500" cy="1407765"/>
          </a:xfrm>
          <a:prstGeom prst="roundRect">
            <a:avLst>
              <a:gd name="adj" fmla="val 4060"/>
            </a:avLst>
          </a:prstGeom>
          <a:solidFill>
            <a:srgbClr val="F8F9F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7" name="Shape 15"/>
          <p:cNvSpPr/>
          <p:nvPr/>
        </p:nvSpPr>
        <p:spPr>
          <a:xfrm>
            <a:off x="4841423" y="3054229"/>
            <a:ext cx="0" cy="1407765"/>
          </a:xfrm>
          <a:prstGeom prst="line">
            <a:avLst/>
          </a:prstGeom>
          <a:noFill/>
          <a:ln w="38100">
            <a:solidFill>
              <a:srgbClr val="2ECC7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5050973" y="3282829"/>
            <a:ext cx="3653028" cy="293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310"/>
              </a:lnSpc>
              <a:spcBef>
                <a:spcPts val="300"/>
              </a:spcBef>
              <a:spcAft>
                <a:spcPts val="900"/>
              </a:spcAft>
              <a:buNone/>
            </a:pPr>
            <a:r>
              <a:rPr lang="en-US" sz="1650" b="1" dirty="0">
                <a:solidFill>
                  <a:srgbClr val="2ECC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Practical Feasibility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5050973" y="3690469"/>
            <a:ext cx="3653028" cy="542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38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425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Method successfully implemented with open-source statistical software (R)</a:t>
            </a:r>
            <a:endParaRPr lang="en-US" sz="1425" dirty="0"/>
          </a:p>
        </p:txBody>
      </p:sp>
      <p:pic>
        <p:nvPicPr>
          <p:cNvPr id="20" name="Picture 19" descr="A blue and white logo&#10;&#10;AI-generated content may be incorrect.">
            <a:extLst>
              <a:ext uri="{FF2B5EF4-FFF2-40B4-BE49-F238E27FC236}">
                <a16:creationId xmlns:a16="http://schemas.microsoft.com/office/drawing/2014/main" id="{4E4651EB-A2E0-90AA-D004-17FDD05947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18094" y="145993"/>
            <a:ext cx="1812615" cy="405353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8176" y="711881"/>
            <a:ext cx="0" cy="400050"/>
          </a:xfrm>
          <a:prstGeom prst="line">
            <a:avLst/>
          </a:prstGeom>
          <a:noFill/>
          <a:ln w="57150">
            <a:solidFill>
              <a:srgbClr val="1C3F6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43767" y="747714"/>
            <a:ext cx="4061079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150"/>
              </a:lnSpc>
              <a:buNone/>
            </a:pPr>
            <a:r>
              <a:rPr lang="en-US" sz="3150" b="1" dirty="0">
                <a:solidFill>
                  <a:srgbClr val="1C3F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Conclusions</a:t>
            </a:r>
            <a:endParaRPr lang="en-US" sz="3150" dirty="0"/>
          </a:p>
        </p:txBody>
      </p:sp>
      <p:pic>
        <p:nvPicPr>
          <p:cNvPr id="4" name="Image 0" descr="/tmp/rasterized-gradient-1e5e8cb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372" y="1353911"/>
            <a:ext cx="8191500" cy="246697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79022" y="1544411"/>
            <a:ext cx="7908417" cy="600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363"/>
              </a:lnSpc>
              <a:spcAft>
                <a:spcPts val="1125"/>
              </a:spcAft>
              <a:buNone/>
            </a:pPr>
            <a:r>
              <a:rPr lang="en-US" sz="1575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IPTW adapted for trial membership effectively balances baseline characteristics across heterogeneous trial populations in IPD meta-analysis.</a:t>
            </a:r>
            <a:endParaRPr lang="en-US" sz="1575" dirty="0"/>
          </a:p>
        </p:txBody>
      </p:sp>
      <p:sp>
        <p:nvSpPr>
          <p:cNvPr id="6" name="Text 3"/>
          <p:cNvSpPr/>
          <p:nvPr/>
        </p:nvSpPr>
        <p:spPr>
          <a:xfrm>
            <a:off x="879022" y="2287361"/>
            <a:ext cx="7908417" cy="600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363"/>
              </a:lnSpc>
              <a:spcAft>
                <a:spcPts val="1125"/>
              </a:spcAft>
              <a:buNone/>
            </a:pPr>
            <a:r>
              <a:rPr lang="en-US" sz="1575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method provides a principled approach to creating comparable control groups when trials enroll systematically different patient populations.</a:t>
            </a:r>
            <a:endParaRPr lang="en-US" sz="1575" dirty="0"/>
          </a:p>
        </p:txBody>
      </p:sp>
      <p:sp>
        <p:nvSpPr>
          <p:cNvPr id="7" name="Text 4"/>
          <p:cNvSpPr/>
          <p:nvPr/>
        </p:nvSpPr>
        <p:spPr>
          <a:xfrm>
            <a:off x="879022" y="3030311"/>
            <a:ext cx="7908417" cy="600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363"/>
              </a:lnSpc>
              <a:buNone/>
            </a:pPr>
            <a:r>
              <a:rPr lang="en-US" sz="1575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Careful monitoring of effective sample size and weight diagnostics is essential for practical implementation.</a:t>
            </a:r>
            <a:endParaRPr lang="en-US" sz="1575" dirty="0"/>
          </a:p>
        </p:txBody>
      </p:sp>
      <p:sp>
        <p:nvSpPr>
          <p:cNvPr id="8" name="Text 5"/>
          <p:cNvSpPr/>
          <p:nvPr/>
        </p:nvSpPr>
        <p:spPr>
          <a:xfrm>
            <a:off x="631372" y="4011386"/>
            <a:ext cx="8191500" cy="950416"/>
          </a:xfrm>
          <a:prstGeom prst="roundRect">
            <a:avLst>
              <a:gd name="adj" fmla="val 8018"/>
            </a:avLst>
          </a:prstGeom>
          <a:solidFill>
            <a:srgbClr val="1C3F6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" name="Text 6"/>
          <p:cNvSpPr/>
          <p:nvPr/>
        </p:nvSpPr>
        <p:spPr>
          <a:xfrm>
            <a:off x="743767" y="4201886"/>
            <a:ext cx="7966710" cy="569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242"/>
              </a:lnSpc>
              <a:buNone/>
            </a:pPr>
            <a:r>
              <a:rPr lang="en-US" sz="172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valuable tool for IPD meta-analyses                                                               with baseline heterogeneity across trials</a:t>
            </a:r>
            <a:endParaRPr lang="en-US" sz="1725" dirty="0"/>
          </a:p>
        </p:txBody>
      </p:sp>
      <p:pic>
        <p:nvPicPr>
          <p:cNvPr id="10" name="Picture 9" descr="A blue and white logo&#10;&#10;AI-generated content may be incorrect.">
            <a:extLst>
              <a:ext uri="{FF2B5EF4-FFF2-40B4-BE49-F238E27FC236}">
                <a16:creationId xmlns:a16="http://schemas.microsoft.com/office/drawing/2014/main" id="{8C618976-F566-6D36-D59D-1A441CBA04F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18094" y="145993"/>
            <a:ext cx="1812615" cy="405353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1965" y="468795"/>
            <a:ext cx="2931797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4200"/>
              </a:lnSpc>
              <a:spcAft>
                <a:spcPts val="3000"/>
              </a:spcAft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You!</a:t>
            </a:r>
            <a:endParaRPr lang="en-US" sz="4200" dirty="0"/>
          </a:p>
        </p:txBody>
      </p:sp>
      <p:sp>
        <p:nvSpPr>
          <p:cNvPr id="3" name="Text 1"/>
          <p:cNvSpPr/>
          <p:nvPr/>
        </p:nvSpPr>
        <p:spPr>
          <a:xfrm>
            <a:off x="2079520" y="1383195"/>
            <a:ext cx="4984811" cy="3466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730"/>
              </a:lnSpc>
              <a:spcBef>
                <a:spcPts val="1125"/>
              </a:spcBef>
              <a:spcAft>
                <a:spcPts val="1125"/>
              </a:spcAft>
              <a:buNone/>
            </a:pPr>
            <a:endParaRPr lang="en-US" sz="1950" dirty="0"/>
          </a:p>
        </p:txBody>
      </p:sp>
      <p:sp>
        <p:nvSpPr>
          <p:cNvPr id="4" name="Text 2"/>
          <p:cNvSpPr/>
          <p:nvPr/>
        </p:nvSpPr>
        <p:spPr>
          <a:xfrm>
            <a:off x="0" y="1483690"/>
            <a:ext cx="9144000" cy="3466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730"/>
              </a:lnSpc>
              <a:spcBef>
                <a:spcPts val="1125"/>
              </a:spcBef>
              <a:spcAft>
                <a:spcPts val="1125"/>
              </a:spcAft>
              <a:buNone/>
            </a:pPr>
            <a:r>
              <a:rPr lang="en-US" sz="2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 and supplementary materials available </a:t>
            </a:r>
          </a:p>
          <a:p>
            <a:pPr algn="ctr">
              <a:lnSpc>
                <a:spcPts val="2730"/>
              </a:lnSpc>
              <a:spcBef>
                <a:spcPts val="1125"/>
              </a:spcBef>
              <a:spcAft>
                <a:spcPts val="1125"/>
              </a:spcAft>
            </a:pPr>
            <a:r>
              <a:rPr lang="en-US" sz="2500" dirty="0">
                <a:solidFill>
                  <a:srgbClr val="FFFFFF"/>
                </a:solidFill>
                <a:latin typeface="Arial" pitchFamily="34" charset="0"/>
                <a:cs typeface="Arial" pitchFamily="34" charset="-120"/>
              </a:rPr>
              <a:t>https://</a:t>
            </a:r>
            <a:r>
              <a:rPr lang="en-US" sz="2500" dirty="0" err="1">
                <a:solidFill>
                  <a:srgbClr val="FFFFFF"/>
                </a:solidFill>
                <a:latin typeface="Arial" pitchFamily="34" charset="0"/>
                <a:cs typeface="Arial" pitchFamily="34" charset="-120"/>
              </a:rPr>
              <a:t>github.com</a:t>
            </a:r>
            <a:r>
              <a:rPr lang="en-US" sz="2500" dirty="0">
                <a:solidFill>
                  <a:srgbClr val="FFFFFF"/>
                </a:solidFill>
                <a:latin typeface="Arial" pitchFamily="34" charset="0"/>
                <a:cs typeface="Arial" pitchFamily="34" charset="-120"/>
              </a:rPr>
              <a:t>/</a:t>
            </a:r>
            <a:r>
              <a:rPr lang="en-US" sz="2500" dirty="0" err="1">
                <a:solidFill>
                  <a:srgbClr val="FFFFFF"/>
                </a:solidFill>
                <a:latin typeface="Arial" pitchFamily="34" charset="0"/>
                <a:cs typeface="Arial" pitchFamily="34" charset="-120"/>
              </a:rPr>
              <a:t>dkarletsos</a:t>
            </a:r>
            <a:r>
              <a:rPr lang="en-US" sz="2500" dirty="0">
                <a:solidFill>
                  <a:srgbClr val="FFFFFF"/>
                </a:solidFill>
                <a:latin typeface="Arial" pitchFamily="34" charset="0"/>
                <a:cs typeface="Arial" pitchFamily="34" charset="-120"/>
              </a:rPr>
              <a:t>/</a:t>
            </a:r>
            <a:r>
              <a:rPr lang="en-US" sz="2500" dirty="0" err="1">
                <a:solidFill>
                  <a:srgbClr val="FFFFFF"/>
                </a:solidFill>
                <a:latin typeface="Arial" pitchFamily="34" charset="0"/>
                <a:cs typeface="Arial" pitchFamily="34" charset="-120"/>
              </a:rPr>
              <a:t>multigroup_iptw</a:t>
            </a:r>
            <a:endParaRPr lang="en-US" sz="500" dirty="0">
              <a:solidFill>
                <a:srgbClr val="FFFFFF"/>
              </a:solidFill>
              <a:latin typeface="Arial" pitchFamily="34" charset="0"/>
              <a:cs typeface="Arial" pitchFamily="34" charset="-120"/>
            </a:endParaRPr>
          </a:p>
          <a:p>
            <a:pPr>
              <a:lnSpc>
                <a:spcPts val="2730"/>
              </a:lnSpc>
              <a:spcBef>
                <a:spcPts val="1125"/>
              </a:spcBef>
              <a:spcAft>
                <a:spcPts val="1125"/>
              </a:spcAft>
            </a:pPr>
            <a:r>
              <a:rPr lang="en-US" sz="2500" dirty="0">
                <a:solidFill>
                  <a:srgbClr val="FFFFFF"/>
                </a:solidFill>
                <a:latin typeface="Arial" pitchFamily="34" charset="0"/>
                <a:cs typeface="Arial" pitchFamily="34" charset="-120"/>
              </a:rPr>
              <a:t>      </a:t>
            </a:r>
          </a:p>
          <a:p>
            <a:pPr>
              <a:lnSpc>
                <a:spcPts val="2730"/>
              </a:lnSpc>
              <a:spcBef>
                <a:spcPts val="1125"/>
              </a:spcBef>
              <a:spcAft>
                <a:spcPts val="1125"/>
              </a:spcAft>
            </a:pPr>
            <a:endParaRPr lang="en-US" sz="1950" dirty="0">
              <a:solidFill>
                <a:srgbClr val="FFFFFF"/>
              </a:solidFill>
              <a:latin typeface="Arial" pitchFamily="34" charset="0"/>
              <a:cs typeface="Arial" pitchFamily="34" charset="-120"/>
            </a:endParaRPr>
          </a:p>
          <a:p>
            <a:pPr>
              <a:lnSpc>
                <a:spcPts val="2730"/>
              </a:lnSpc>
              <a:spcBef>
                <a:spcPts val="1125"/>
              </a:spcBef>
              <a:spcAft>
                <a:spcPts val="1125"/>
              </a:spcAft>
            </a:pPr>
            <a:endParaRPr lang="en-US" sz="1950" dirty="0">
              <a:solidFill>
                <a:srgbClr val="FFFFFF"/>
              </a:solidFill>
              <a:latin typeface="Arial" pitchFamily="34" charset="0"/>
              <a:cs typeface="Arial" pitchFamily="34" charset="-120"/>
            </a:endParaRPr>
          </a:p>
          <a:p>
            <a:pPr algn="ctr">
              <a:lnSpc>
                <a:spcPts val="2730"/>
              </a:lnSpc>
              <a:spcBef>
                <a:spcPts val="1125"/>
              </a:spcBef>
              <a:spcAft>
                <a:spcPts val="1125"/>
              </a:spcAft>
            </a:pPr>
            <a:endParaRPr lang="en-US" sz="195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41AA4EF-E91C-8D0F-F66B-8EC4E6ACA9D5}"/>
              </a:ext>
            </a:extLst>
          </p:cNvPr>
          <p:cNvSpPr txBox="1"/>
          <p:nvPr/>
        </p:nvSpPr>
        <p:spPr>
          <a:xfrm>
            <a:off x="0" y="2954846"/>
            <a:ext cx="9144000" cy="190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730"/>
              </a:lnSpc>
              <a:spcBef>
                <a:spcPts val="1125"/>
              </a:spcBef>
              <a:spcAft>
                <a:spcPts val="1125"/>
              </a:spcAft>
            </a:pPr>
            <a:r>
              <a:rPr lang="en-US" sz="2500" dirty="0">
                <a:solidFill>
                  <a:srgbClr val="FFFFFF"/>
                </a:solidFill>
                <a:latin typeface="Arial" pitchFamily="34" charset="0"/>
                <a:cs typeface="Arial" pitchFamily="34" charset="-120"/>
              </a:rPr>
              <a:t>Let’s stay connected: </a:t>
            </a:r>
          </a:p>
          <a:p>
            <a:pPr>
              <a:lnSpc>
                <a:spcPts val="2730"/>
              </a:lnSpc>
              <a:spcBef>
                <a:spcPts val="1125"/>
              </a:spcBef>
            </a:pPr>
            <a:r>
              <a:rPr lang="en-US" sz="2500" dirty="0">
                <a:solidFill>
                  <a:srgbClr val="FFFFFF"/>
                </a:solidFill>
                <a:latin typeface="Arial" pitchFamily="34" charset="0"/>
                <a:cs typeface="Arial" pitchFamily="34" charset="-120"/>
              </a:rPr>
              <a:t>	@LinkedIn: Dimitris Karletsos 	</a:t>
            </a:r>
          </a:p>
          <a:p>
            <a:pPr>
              <a:lnSpc>
                <a:spcPts val="2730"/>
              </a:lnSpc>
              <a:spcBef>
                <a:spcPts val="1125"/>
              </a:spcBef>
            </a:pPr>
            <a:r>
              <a:rPr lang="en-US" sz="2500" dirty="0">
                <a:solidFill>
                  <a:srgbClr val="FFFFFF"/>
                </a:solidFill>
                <a:latin typeface="Arial" pitchFamily="34" charset="0"/>
                <a:cs typeface="Arial" pitchFamily="34" charset="-120"/>
              </a:rPr>
              <a:t>	@email: </a:t>
            </a:r>
            <a:r>
              <a:rPr lang="en-US" sz="2500" dirty="0" err="1">
                <a:solidFill>
                  <a:srgbClr val="FFFFFF"/>
                </a:solidFill>
                <a:latin typeface="Arial" pitchFamily="34" charset="0"/>
                <a:cs typeface="Arial" pitchFamily="34" charset="-120"/>
              </a:rPr>
              <a:t>dimitris.karletsos@ext.elderbrooksolutions.com</a:t>
            </a:r>
            <a:r>
              <a:rPr lang="en-US" sz="2500" dirty="0">
                <a:solidFill>
                  <a:srgbClr val="FFFFFF"/>
                </a:solidFill>
                <a:latin typeface="Arial" pitchFamily="34" charset="0"/>
                <a:cs typeface="Arial" pitchFamily="34" charset="-120"/>
              </a:rPr>
              <a:t> 	@web: </a:t>
            </a:r>
            <a:r>
              <a:rPr lang="en-US" sz="2500" dirty="0" err="1">
                <a:solidFill>
                  <a:srgbClr val="FFFFFF"/>
                </a:solidFill>
                <a:latin typeface="Arial" pitchFamily="34" charset="0"/>
                <a:cs typeface="Arial" pitchFamily="34" charset="-120"/>
              </a:rPr>
              <a:t>www.elderbrook.de</a:t>
            </a:r>
            <a:r>
              <a:rPr lang="en-US" sz="2500" dirty="0">
                <a:solidFill>
                  <a:srgbClr val="FFFFFF"/>
                </a:solidFill>
                <a:latin typeface="Arial" pitchFamily="34" charset="0"/>
                <a:cs typeface="Arial" pitchFamily="34" charset="-120"/>
              </a:rPr>
              <a:t>	</a:t>
            </a:r>
            <a:endParaRPr lang="en-US" sz="2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0df3522f-8c42-44b0-bea3-7f162a60ea50}" enabled="1" method="Standard" siteId="{63982aff-fb6c-4c22-973b-70e4acfb63e6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241</TotalTime>
  <Words>1099</Words>
  <Application>Microsoft Macintosh PowerPoint</Application>
  <PresentationFormat>On-screen Show (16:9)</PresentationFormat>
  <Paragraphs>135</Paragraphs>
  <Slides>21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5" baseType="lpstr">
      <vt:lpstr>Arial</vt:lpstr>
      <vt:lpstr>Calibri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IPTW for Multiple Groups</dc:title>
  <dc:subject>IPD Meta-Analysis</dc:subject>
  <dc:creator>IPD Meta-Analysis Research</dc:creator>
  <cp:lastModifiedBy>Dimitris Karletsos</cp:lastModifiedBy>
  <cp:revision>13</cp:revision>
  <dcterms:created xsi:type="dcterms:W3CDTF">2025-10-23T02:45:41Z</dcterms:created>
  <dcterms:modified xsi:type="dcterms:W3CDTF">2025-11-17T15:01:32Z</dcterms:modified>
</cp:coreProperties>
</file>