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6" r:id="rId4"/>
    <p:sldId id="271" r:id="rId5"/>
    <p:sldId id="272" r:id="rId6"/>
    <p:sldId id="258" r:id="rId7"/>
    <p:sldId id="267" r:id="rId8"/>
    <p:sldId id="268" r:id="rId9"/>
    <p:sldId id="269" r:id="rId10"/>
    <p:sldId id="270" r:id="rId11"/>
    <p:sldId id="273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3" d="100"/>
          <a:sy n="143" d="100"/>
        </p:scale>
        <p:origin x="7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111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7728" y="964109"/>
            <a:ext cx="6548247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Aft>
                <a:spcPts val="105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Probability Weighting</a:t>
            </a:r>
            <a:endParaRPr lang="en-US" sz="3600" dirty="0"/>
          </a:p>
          <a:p>
            <a:pPr marL="0" indent="0" algn="ctr">
              <a:lnSpc>
                <a:spcPts val="4680"/>
              </a:lnSpc>
              <a:spcAft>
                <a:spcPts val="225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Multiple Groups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7308" y="2438400"/>
            <a:ext cx="6669235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Aft>
                <a:spcPts val="1200"/>
              </a:spcAft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Baseline Characteristics and Improving Precision</a:t>
            </a:r>
            <a:endParaRPr lang="en-US" sz="1950" dirty="0"/>
          </a:p>
          <a:p>
            <a:pPr marL="0" indent="0" algn="ctr">
              <a:lnSpc>
                <a:spcPts val="2730"/>
              </a:lnSpc>
              <a:spcAft>
                <a:spcPts val="1200"/>
              </a:spcAft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Average Treatment Effect Estimation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7308" y="3778220"/>
            <a:ext cx="66692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75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Dimitris Karletsos                                                                     November 2025</a:t>
            </a:r>
          </a:p>
          <a:p>
            <a:pPr marL="0" indent="0" algn="ctr">
              <a:lnSpc>
                <a:spcPts val="2100"/>
              </a:lnSpc>
              <a:spcBef>
                <a:spcPts val="375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PHUSE 2025</a:t>
            </a:r>
            <a:endParaRPr lang="en-US"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825" y="476250"/>
            <a:ext cx="0" cy="400050"/>
          </a:xfrm>
          <a:prstGeom prst="line">
            <a:avLst/>
          </a:prstGeom>
          <a:noFill/>
          <a:ln w="57150">
            <a:solidFill>
              <a:srgbClr val="1C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3900" y="476250"/>
            <a:ext cx="40610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23900" y="1162050"/>
            <a:ext cx="4061079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3"/>
              </a:lnSpc>
              <a:spcAft>
                <a:spcPts val="1125"/>
              </a:spcAft>
              <a:buNone/>
            </a:pPr>
            <a:r>
              <a:rPr lang="en-US" sz="210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Heterogeneity Across Trials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3900" y="1601242"/>
            <a:ext cx="7943850" cy="121920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marL="119063" indent="-119063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trials enroll systematically different populations</a:t>
            </a:r>
            <a:endParaRPr lang="en-US" sz="1350" dirty="0"/>
          </a:p>
          <a:p>
            <a:pPr marL="119063" indent="-119063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Varying inclusion criteria, geographic regions, recruitment periods</a:t>
            </a:r>
            <a:endParaRPr lang="en-US" sz="1350" dirty="0"/>
          </a:p>
          <a:p>
            <a:pPr marL="119063" indent="-119063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placebo arms creates imbalanced comparison groups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3900" y="3106192"/>
            <a:ext cx="8102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balance baseline characteristics across trial arms?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Traditional Approaches vs. Our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0" cy="457200"/>
          </a:xfrm>
          <a:prstGeom prst="rect">
            <a:avLst/>
          </a:prstGeom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58952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Traditional IPTW: Models treatment propensity (P(</a:t>
            </a:r>
            <a:r>
              <a:rPr dirty="0" err="1"/>
              <a:t>Treatment|X</a:t>
            </a:r>
            <a:r>
              <a:rPr dirty="0"/>
              <a:t>))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  • ATE: Average Treatment Effect across entire population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  • ATT: Average Treatment effect on the Treated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Our Adaptation: Models trial membership propensity (P(</a:t>
            </a:r>
            <a:r>
              <a:rPr dirty="0" err="1"/>
              <a:t>Trial|X</a:t>
            </a:r>
            <a:r>
              <a:rPr dirty="0"/>
              <a:t>))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  • Goal: Balance baseline characteristics across trial placebo arms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  • Creates comparable control groups when pooling heterogeneous trials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Standard Propensity Score Formulas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0" cy="457200"/>
          </a:xfrm>
          <a:prstGeom prst="rect">
            <a:avLst/>
          </a:prstGeom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589520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/>
            </a:pPr>
            <a:r>
              <a:rPr dirty="0"/>
              <a:t>Propensity Score: e(X) = P(T = 1 | X)</a:t>
            </a:r>
          </a:p>
          <a:p>
            <a:pPr>
              <a:spcAft>
                <a:spcPts val="1500"/>
              </a:spcAft>
              <a:defRPr sz="2200" b="1">
                <a:solidFill>
                  <a:srgbClr val="2980B9"/>
                </a:solidFill>
              </a:defRPr>
            </a:pPr>
            <a:r>
              <a:rPr dirty="0"/>
              <a:t>Average Treatment Effect (ATE):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 Weight for treated (T=1):     w₁ = 1 / e(X)</a:t>
            </a:r>
          </a:p>
          <a:p>
            <a:pPr>
              <a:spcAft>
                <a:spcPts val="2500"/>
              </a:spcAft>
              <a:defRPr sz="1800"/>
            </a:pPr>
            <a:r>
              <a:rPr dirty="0"/>
              <a:t>    Weight for control (T=0):     w₀ = 1 / (1 - e(X))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rPr dirty="0"/>
              <a:t>where T = 1 indicates treatment, T = 0 indicates control, and X represents baseline covariates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36FE-CA17-E435-FA87-D7CD5930C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0FA90-1827-C482-1192-CF42234CEF4C}"/>
              </a:ext>
            </a:extLst>
          </p:cNvPr>
          <p:cNvSpPr txBox="1"/>
          <p:nvPr/>
        </p:nvSpPr>
        <p:spPr>
          <a:xfrm>
            <a:off x="640080" y="5943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Standard Propensity Score Formulas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4D8283-7AEE-DE85-4C19-4E9C617DC4A8}"/>
              </a:ext>
            </a:extLst>
          </p:cNvPr>
          <p:cNvSpPr/>
          <p:nvPr/>
        </p:nvSpPr>
        <p:spPr>
          <a:xfrm>
            <a:off x="640080" y="1371600"/>
            <a:ext cx="0" cy="457200"/>
          </a:xfrm>
          <a:prstGeom prst="rect">
            <a:avLst/>
          </a:prstGeom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B76CD-2A64-9BA7-F3CD-ACE814C4AC27}"/>
              </a:ext>
            </a:extLst>
          </p:cNvPr>
          <p:cNvSpPr txBox="1"/>
          <p:nvPr/>
        </p:nvSpPr>
        <p:spPr>
          <a:xfrm>
            <a:off x="640080" y="2011680"/>
            <a:ext cx="7589520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/>
            </a:pPr>
            <a:r>
              <a:rPr dirty="0"/>
              <a:t>Propensity Score: e(X) = P(T = 1 | X)</a:t>
            </a:r>
          </a:p>
          <a:p>
            <a:pPr>
              <a:spcAft>
                <a:spcPts val="1500"/>
              </a:spcAft>
              <a:defRPr sz="2200" b="1">
                <a:solidFill>
                  <a:srgbClr val="C0392B"/>
                </a:solidFill>
              </a:defRPr>
            </a:pPr>
            <a:r>
              <a:rPr dirty="0"/>
              <a:t>Average Treatment Effect on the Treated (ATT):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    Weight for treated (T=1):     w₁ = 1</a:t>
            </a:r>
          </a:p>
          <a:p>
            <a:pPr>
              <a:spcAft>
                <a:spcPts val="2500"/>
              </a:spcAft>
              <a:defRPr sz="1800"/>
            </a:pPr>
            <a:r>
              <a:rPr dirty="0"/>
              <a:t>    Weight for control (T=0):     w₀ = e(X) / (1 - e(X))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rPr dirty="0"/>
              <a:t>where T = 1 indicates treatment, T = 0 indicates control, and X represents baseline covariates</a:t>
            </a:r>
          </a:p>
        </p:txBody>
      </p:sp>
    </p:spTree>
    <p:extLst>
      <p:ext uri="{BB962C8B-B14F-4D97-AF65-F5344CB8AC3E}">
        <p14:creationId xmlns:p14="http://schemas.microsoft.com/office/powerpoint/2010/main" val="44659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825" y="476250"/>
            <a:ext cx="0" cy="400050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3900" y="476250"/>
            <a:ext cx="40610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3150" dirty="0"/>
          </a:p>
        </p:txBody>
      </p:sp>
      <p:pic>
        <p:nvPicPr>
          <p:cNvPr id="4" name="Image 0" descr="/tmp/rasterized-gradient-b9b003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162050"/>
            <a:ext cx="8191500" cy="1169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2475" y="1400175"/>
            <a:ext cx="7830693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IPTW to model </a:t>
            </a:r>
            <a:r>
              <a:rPr lang="en-US" sz="19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membership</a:t>
            </a:r>
            <a:r>
              <a:rPr lang="en-US" sz="1950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propensity instead of treatment propensity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476250" y="2617291"/>
            <a:ext cx="8191500" cy="121920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marL="119063" indent="-119063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Use multinomial logistic regression to estimate probability of trial membership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9063" indent="-119063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Weight each participant by inverse of their trial membership probability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9063" indent="-119063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Create pseudo-population where trial membership is independent of covariates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Step 1: Fit Multinomial Logistic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0" cy="457200"/>
          </a:xfrm>
          <a:prstGeom prst="rect">
            <a:avLst/>
          </a:prstGeom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5895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Model trial membership as a function of baseline covariates: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  log(P(Trial = k | X) / P(Trial = ref | X)) = β₀ₖ + β₁ₖX₁ + ... + βₚₖXₚ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For K trials: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  • Creates K-1 equations (one trial used as reference)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  • Naturally handles multiple groups without pairwise comparisons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  • Probabilities sum to 1 across all trials for each participant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Step 2: Calculate Propensity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0" cy="457200"/>
          </a:xfrm>
          <a:prstGeom prst="rect">
            <a:avLst/>
          </a:prstGeom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5895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Extract predicted probability for each participant's observed trial: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  </a:t>
            </a:r>
            <a:r>
              <a:rPr dirty="0" err="1"/>
              <a:t>PS_i</a:t>
            </a:r>
            <a:r>
              <a:rPr dirty="0"/>
              <a:t> = P̂(Trial = j | </a:t>
            </a:r>
            <a:r>
              <a:rPr dirty="0" err="1"/>
              <a:t>X_i</a:t>
            </a:r>
            <a:r>
              <a:rPr dirty="0"/>
              <a:t>)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where j is the trial that participant </a:t>
            </a:r>
            <a:r>
              <a:rPr dirty="0" err="1"/>
              <a:t>i</a:t>
            </a:r>
            <a:r>
              <a:rPr dirty="0"/>
              <a:t> actually belongs to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Propensity score range in our simulation: 0.18 to 0.92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  • Median: 0.45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  <a:defRPr sz="1800"/>
            </a:pPr>
            <a:r>
              <a:rPr dirty="0"/>
              <a:t>  • Indicates moderate separability with no extreme probabilities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Step 3: Compute Stabilized IPTW Weights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0" cy="457200"/>
          </a:xfrm>
          <a:prstGeom prst="rect">
            <a:avLst/>
          </a:prstGeom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384048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/>
            </a:pPr>
            <a:r>
              <a:rPr dirty="0"/>
              <a:t>Calculate stabilized weights for each participant: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/>
            </a:pPr>
            <a:r>
              <a:rPr dirty="0"/>
              <a:t>  </a:t>
            </a:r>
            <a:r>
              <a:rPr dirty="0" err="1"/>
              <a:t>SW_i</a:t>
            </a:r>
            <a:r>
              <a:rPr dirty="0"/>
              <a:t> = P(Trial = j) / P̂(Trial = j | </a:t>
            </a:r>
            <a:r>
              <a:rPr dirty="0" err="1"/>
              <a:t>X_i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/>
            </a:pPr>
            <a:r>
              <a:rPr dirty="0"/>
              <a:t>where P(Trial = j) is the marginal probability (proportion in trial j)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/>
            </a:pPr>
            <a:r>
              <a:rPr dirty="0"/>
              <a:t>• Mean ≈ 1 by construction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/>
            </a:pPr>
            <a:r>
              <a:rPr dirty="0"/>
              <a:t>• Lower variance than </a:t>
            </a:r>
            <a:r>
              <a:rPr dirty="0" err="1"/>
              <a:t>unstabilized</a:t>
            </a:r>
            <a:r>
              <a:rPr dirty="0"/>
              <a:t> weights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/>
            </a:pPr>
            <a:r>
              <a:rPr dirty="0"/>
              <a:t>• More stable statistical estimates</a:t>
            </a:r>
          </a:p>
        </p:txBody>
      </p:sp>
      <p:pic>
        <p:nvPicPr>
          <p:cNvPr id="5" name="Picture 4" descr="weight_distribution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1168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Step 4: Assess Balance Using SMD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0" cy="457200"/>
          </a:xfrm>
          <a:prstGeom prst="rect">
            <a:avLst/>
          </a:prstGeom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5895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Calculate Standardized Mean Differences (SMDs) for each covariate: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  SMD = (</a:t>
            </a:r>
            <a:r>
              <a:rPr dirty="0" err="1"/>
              <a:t>X̄_trial</a:t>
            </a:r>
            <a:r>
              <a:rPr dirty="0"/>
              <a:t> - </a:t>
            </a:r>
            <a:r>
              <a:rPr dirty="0" err="1"/>
              <a:t>X̄_pooled</a:t>
            </a:r>
            <a:r>
              <a:rPr dirty="0"/>
              <a:t>) / </a:t>
            </a:r>
            <a:r>
              <a:rPr dirty="0" err="1"/>
              <a:t>SD_pooled</a:t>
            </a:r>
            <a:endParaRPr dirty="0"/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Assess balance before and after weighting: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  • |SMD| &lt; 0.1 indicates adequate balance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  • Compare pre-weight vs. post-weight SMDs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47D4-421C-E3F5-15C1-321FCD5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D326EE-F9DC-F35E-9773-D6FC676F712E}"/>
              </a:ext>
            </a:extLst>
          </p:cNvPr>
          <p:cNvSpPr txBox="1"/>
          <p:nvPr/>
        </p:nvSpPr>
        <p:spPr>
          <a:xfrm>
            <a:off x="640080" y="59436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Step 4: Assess Balance Using SMD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74608A-1C48-5EA6-599B-15338D093194}"/>
              </a:ext>
            </a:extLst>
          </p:cNvPr>
          <p:cNvSpPr/>
          <p:nvPr/>
        </p:nvSpPr>
        <p:spPr>
          <a:xfrm>
            <a:off x="640080" y="1371600"/>
            <a:ext cx="0" cy="457200"/>
          </a:xfrm>
          <a:prstGeom prst="rect">
            <a:avLst/>
          </a:prstGeom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64935-68D8-762F-DCDA-483EEC3BACC6}"/>
              </a:ext>
            </a:extLst>
          </p:cNvPr>
          <p:cNvSpPr txBox="1"/>
          <p:nvPr/>
        </p:nvSpPr>
        <p:spPr>
          <a:xfrm>
            <a:off x="640080" y="2011680"/>
            <a:ext cx="75895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Calculate Standardized Mean Differences (SMDs) for each covariate: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  SMD = (</a:t>
            </a:r>
            <a:r>
              <a:rPr dirty="0" err="1"/>
              <a:t>X̄_trial</a:t>
            </a:r>
            <a:r>
              <a:rPr dirty="0"/>
              <a:t> - </a:t>
            </a:r>
            <a:r>
              <a:rPr dirty="0" err="1"/>
              <a:t>X̄_pooled</a:t>
            </a:r>
            <a:r>
              <a:rPr dirty="0"/>
              <a:t>) / </a:t>
            </a:r>
            <a:r>
              <a:rPr dirty="0" err="1"/>
              <a:t>SD_pooled</a:t>
            </a:r>
            <a:endParaRPr dirty="0"/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Monitor effective sample size: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  • ESS = (</a:t>
            </a:r>
            <a:r>
              <a:rPr dirty="0" err="1"/>
              <a:t>Σw_i</a:t>
            </a:r>
            <a:r>
              <a:rPr dirty="0"/>
              <a:t>)² / </a:t>
            </a:r>
            <a:r>
              <a:rPr dirty="0" err="1"/>
              <a:t>Σ</a:t>
            </a:r>
            <a:r>
              <a:rPr dirty="0"/>
              <a:t>(w_i²)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rPr dirty="0"/>
              <a:t>  • ESS &lt; 50% suggests extreme heterogeneity</a:t>
            </a:r>
          </a:p>
        </p:txBody>
      </p:sp>
    </p:spTree>
    <p:extLst>
      <p:ext uri="{BB962C8B-B14F-4D97-AF65-F5344CB8AC3E}">
        <p14:creationId xmlns:p14="http://schemas.microsoft.com/office/powerpoint/2010/main" val="652459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825" y="428625"/>
            <a:ext cx="0" cy="400050"/>
          </a:xfrm>
          <a:prstGeom prst="line">
            <a:avLst/>
          </a:prstGeom>
          <a:noFill/>
          <a:ln w="57150">
            <a:solidFill>
              <a:srgbClr val="1C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3900" y="428625"/>
            <a:ext cx="40610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76250" y="1114425"/>
            <a:ext cx="8191500" cy="864840"/>
          </a:xfrm>
          <a:prstGeom prst="roundRect">
            <a:avLst>
              <a:gd name="adj" fmla="val 881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8645" y="1400175"/>
            <a:ext cx="796671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650" dirty="0">
                <a:solidFill>
                  <a:srgbClr val="1C3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Stabilized Weight = P(Trial = j) / P(Trial = j | X)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6250" y="2169765"/>
            <a:ext cx="4024313" cy="1245691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341215"/>
            <a:ext cx="383276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9600" y="2790676"/>
            <a:ext cx="3832765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multinomial logistic regression for trial membership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4643438" y="2169765"/>
            <a:ext cx="4024313" cy="1245691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76788" y="2341215"/>
            <a:ext cx="383276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76788" y="2790676"/>
            <a:ext cx="383276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propensity scores for each participant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476250" y="3558332"/>
            <a:ext cx="4024313" cy="1245691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3729782"/>
            <a:ext cx="383276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179243"/>
            <a:ext cx="383276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stabilized IPTW weights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643438" y="3558332"/>
            <a:ext cx="4024313" cy="1245691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76788" y="3729782"/>
            <a:ext cx="383276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776788" y="4179243"/>
            <a:ext cx="3832765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balance using standardized mean differences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825" y="428625"/>
            <a:ext cx="0" cy="400050"/>
          </a:xfrm>
          <a:prstGeom prst="line">
            <a:avLst/>
          </a:prstGeom>
          <a:noFill/>
          <a:ln w="57150">
            <a:solidFill>
              <a:srgbClr val="1C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3900" y="428625"/>
            <a:ext cx="40610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Design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76250" y="1066800"/>
            <a:ext cx="8191500" cy="1514475"/>
          </a:xfrm>
          <a:prstGeom prst="roundRect">
            <a:avLst>
              <a:gd name="adj" fmla="val 503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6750" y="1633538"/>
            <a:ext cx="7810500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6750" y="2014538"/>
            <a:ext cx="7810500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6250" y="2819400"/>
            <a:ext cx="418738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875"/>
              </a:spcBef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Covariates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50" y="3187601"/>
            <a:ext cx="8191500" cy="148590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marL="119063" indent="-119063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(continuous, trial means: 55-70 years)</a:t>
            </a:r>
            <a:endParaRPr lang="en-US" sz="1350" dirty="0"/>
          </a:p>
          <a:p>
            <a:pPr marL="119063" indent="-119063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 (binary)</a:t>
            </a:r>
            <a:endParaRPr lang="en-US" sz="1350" dirty="0"/>
          </a:p>
          <a:p>
            <a:pPr marL="119063" indent="-119063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severity (continuous, 0-100)</a:t>
            </a:r>
            <a:endParaRPr lang="en-US" sz="1350" dirty="0"/>
          </a:p>
          <a:p>
            <a:pPr marL="119063" indent="-119063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Comorbidity count (0-5)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825" y="428625"/>
            <a:ext cx="0" cy="400050"/>
          </a:xfrm>
          <a:prstGeom prst="line">
            <a:avLst/>
          </a:prstGeom>
          <a:noFill/>
          <a:ln w="571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3900" y="428625"/>
            <a:ext cx="59653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Balance Improvement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5620494" y="1019175"/>
            <a:ext cx="3047256" cy="946696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3844" y="1190625"/>
            <a:ext cx="28361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SMD Before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753844" y="1447800"/>
            <a:ext cx="283616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620494" y="2061121"/>
            <a:ext cx="3047256" cy="1198066"/>
          </a:xfrm>
          <a:prstGeom prst="roundRect">
            <a:avLst>
              <a:gd name="adj" fmla="val 477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53844" y="2232571"/>
            <a:ext cx="28361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SMD After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753844" y="2489746"/>
            <a:ext cx="283616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753844" y="2874466"/>
            <a:ext cx="28361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67% reduction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20494" y="3354437"/>
            <a:ext cx="3047256" cy="1213396"/>
          </a:xfrm>
          <a:prstGeom prst="roundRect">
            <a:avLst>
              <a:gd name="adj" fmla="val 471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53844" y="3525887"/>
            <a:ext cx="28361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Sample Size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753844" y="3783062"/>
            <a:ext cx="283616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753844" y="4177308"/>
            <a:ext cx="28361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75"/>
              </a:spcBef>
              <a:spcAft>
                <a:spcPts val="45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1125" dirty="0"/>
          </a:p>
        </p:txBody>
      </p:sp>
      <p:pic>
        <p:nvPicPr>
          <p:cNvPr id="15" name="Image 0" descr="/mnt/user-data/outputs/lov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19175"/>
            <a:ext cx="4858494" cy="36439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825" y="476250"/>
            <a:ext cx="0" cy="400050"/>
          </a:xfrm>
          <a:prstGeom prst="line">
            <a:avLst/>
          </a:prstGeom>
          <a:noFill/>
          <a:ln w="57150">
            <a:solidFill>
              <a:srgbClr val="1C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3900" y="476250"/>
            <a:ext cx="40610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76250" y="1162050"/>
            <a:ext cx="4000500" cy="1407765"/>
          </a:xfrm>
          <a:prstGeom prst="roundRect">
            <a:avLst>
              <a:gd name="adj" fmla="val 406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1162050"/>
            <a:ext cx="0" cy="1407765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850" y="1390650"/>
            <a:ext cx="365302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Improved Balance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04850" y="1798290"/>
            <a:ext cx="365302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SMDs reduced below 0.25, with most variables achieving excellent balance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4667250" y="1162050"/>
            <a:ext cx="4000500" cy="1407765"/>
          </a:xfrm>
          <a:prstGeom prst="roundRect">
            <a:avLst>
              <a:gd name="adj" fmla="val 406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6300" y="1162050"/>
            <a:ext cx="0" cy="1407765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5850" y="1390650"/>
            <a:ext cx="365302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Efficiency Trade-off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895850" y="1798290"/>
            <a:ext cx="365302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sample size reduced to 24%, indicating heterogeneous trial populations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476250" y="2760315"/>
            <a:ext cx="4000500" cy="1407765"/>
          </a:xfrm>
          <a:prstGeom prst="roundRect">
            <a:avLst>
              <a:gd name="adj" fmla="val 406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95300" y="2760315"/>
            <a:ext cx="0" cy="1407765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850" y="2988915"/>
            <a:ext cx="365302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 Estimates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04850" y="3396555"/>
            <a:ext cx="365302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HR: 0.73 (95% CI: 0.64-0.83), properly adjusted for baseline differences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4667250" y="2760315"/>
            <a:ext cx="4000500" cy="1407765"/>
          </a:xfrm>
          <a:prstGeom prst="roundRect">
            <a:avLst>
              <a:gd name="adj" fmla="val 406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6300" y="2760315"/>
            <a:ext cx="0" cy="1407765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5850" y="2988915"/>
            <a:ext cx="365302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Practical Feasibility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895850" y="3396555"/>
            <a:ext cx="365302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successfully implemented with standard statistical software (R/Python)</a:t>
            </a:r>
            <a:endParaRPr lang="en-US" sz="14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825" y="476250"/>
            <a:ext cx="0" cy="400050"/>
          </a:xfrm>
          <a:prstGeom prst="line">
            <a:avLst/>
          </a:prstGeom>
          <a:noFill/>
          <a:ln w="57150">
            <a:solidFill>
              <a:srgbClr val="1C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3900" y="476250"/>
            <a:ext cx="61013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Considerations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76250" y="1114425"/>
            <a:ext cx="3976687" cy="2377976"/>
          </a:xfrm>
          <a:prstGeom prst="roundRect">
            <a:avLst>
              <a:gd name="adj" fmla="val 32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133475"/>
            <a:ext cx="3976687" cy="0"/>
          </a:xfrm>
          <a:prstGeom prst="line">
            <a:avLst/>
          </a:prstGeom>
          <a:noFill/>
          <a:ln w="38100">
            <a:solidFill>
              <a:srgbClr val="1C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6750" y="1343025"/>
            <a:ext cx="1845945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6750" y="1739801"/>
            <a:ext cx="3595688" cy="1562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all relevant confounders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propensity score overlap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weight distribution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effective sample size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91063" y="1114425"/>
            <a:ext cx="3976687" cy="2377976"/>
          </a:xfrm>
          <a:prstGeom prst="roundRect">
            <a:avLst>
              <a:gd name="adj" fmla="val 32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1063" y="1133475"/>
            <a:ext cx="3976687" cy="0"/>
          </a:xfrm>
          <a:prstGeom prst="line">
            <a:avLst/>
          </a:prstGeom>
          <a:noFill/>
          <a:ln w="38100">
            <a:solidFill>
              <a:srgbClr val="1C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81563" y="1343025"/>
            <a:ext cx="1845945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Issues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81563" y="1739801"/>
            <a:ext cx="3595688" cy="1562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weights (consider truncation)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covariate overlap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misspecification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trial number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6250" y="3682901"/>
            <a:ext cx="819150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95300" y="3682901"/>
            <a:ext cx="0" cy="62865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7225" y="3863876"/>
            <a:ext cx="80250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ESS &lt; 50% of N, carefully evaluate whether trials are too heterogeneous to pool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825" y="428625"/>
            <a:ext cx="0" cy="400050"/>
          </a:xfrm>
          <a:prstGeom prst="line">
            <a:avLst/>
          </a:prstGeom>
          <a:noFill/>
          <a:ln w="57150">
            <a:solidFill>
              <a:srgbClr val="1C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23900" y="428625"/>
            <a:ext cx="40610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1C3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150" dirty="0"/>
          </a:p>
        </p:txBody>
      </p:sp>
      <p:pic>
        <p:nvPicPr>
          <p:cNvPr id="4" name="Image 0" descr="/tmp/rasterized-gradient-1e5e8c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19175"/>
            <a:ext cx="8191500" cy="2466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3900" y="1209675"/>
            <a:ext cx="790841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spcAft>
                <a:spcPts val="1125"/>
              </a:spcAft>
              <a:buNone/>
            </a:pPr>
            <a:r>
              <a:rPr lang="en-US" sz="15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IPTW adapted for trial membership effectively balances baseline characteristics across heterogeneous trial populations in IPD meta-analysis.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23900" y="1952625"/>
            <a:ext cx="790841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spcAft>
                <a:spcPts val="1125"/>
              </a:spcAft>
              <a:buNone/>
            </a:pPr>
            <a:r>
              <a:rPr lang="en-US" sz="15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provides a principled approach to creating comparable control groups when trials enroll systematically different patient populations.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723900" y="2695575"/>
            <a:ext cx="790841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Careful monitoring of effective sample size and weight diagnostics is essential for practical implementation.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76250" y="3676650"/>
            <a:ext cx="8191500" cy="950416"/>
          </a:xfrm>
          <a:prstGeom prst="roundRect">
            <a:avLst>
              <a:gd name="adj" fmla="val 8018"/>
            </a:avLst>
          </a:prstGeom>
          <a:solidFill>
            <a:srgbClr val="1C3F6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88645" y="3867150"/>
            <a:ext cx="7966710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valuable tool for IPD meta-analysts facing baseline heterogeneity across trials</a:t>
            </a:r>
            <a:endParaRPr lang="en-US" sz="17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1966" y="1458367"/>
            <a:ext cx="27397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3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079520" y="2372767"/>
            <a:ext cx="4984811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079520" y="3195638"/>
            <a:ext cx="4984811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supplementary materials available </a:t>
            </a:r>
          </a:p>
          <a:p>
            <a:pPr algn="ctr">
              <a:lnSpc>
                <a:spcPts val="2730"/>
              </a:lnSpc>
              <a:spcBef>
                <a:spcPts val="1125"/>
              </a:spcBef>
              <a:spcAft>
                <a:spcPts val="1125"/>
              </a:spcAft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https://</a:t>
            </a:r>
            <a:r>
              <a:rPr lang="en-US" sz="19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github.com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en-US" sz="19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dkarletsos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en-US" sz="19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multigroup_iptw</a:t>
            </a:r>
            <a:endParaRPr lang="en-US" sz="195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2730"/>
              </a:lnSpc>
              <a:spcBef>
                <a:spcPts val="1125"/>
              </a:spcBef>
              <a:spcAft>
                <a:spcPts val="1125"/>
              </a:spcAft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dimitris.karletsos@gmail.com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1011</Words>
  <Application>Microsoft Macintosh PowerPoint</Application>
  <PresentationFormat>On-screen Show (16:9)</PresentationFormat>
  <Paragraphs>135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IPTW for Multiple Groups</dc:title>
  <dc:subject>IPD Meta-Analysis</dc:subject>
  <dc:creator>IPD Meta-Analysis Research</dc:creator>
  <cp:lastModifiedBy>zxBIB Karletsos,Dimitris (MED BDS) EXTERNAL</cp:lastModifiedBy>
  <cp:revision>3</cp:revision>
  <dcterms:created xsi:type="dcterms:W3CDTF">2025-10-23T02:45:41Z</dcterms:created>
  <dcterms:modified xsi:type="dcterms:W3CDTF">2025-10-30T01:00:38Z</dcterms:modified>
</cp:coreProperties>
</file>